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fonts/font1.fntdata" ContentType="application/x-fontdata"/>
  <Override PartName="/ppt/fonts/font10.fntdata" ContentType="application/x-fontdata"/>
  <Override PartName="/ppt/fonts/font11.fntdata" ContentType="application/x-fontdata"/>
  <Override PartName="/ppt/fonts/font12.fntdata" ContentType="application/x-fontdata"/>
  <Override PartName="/ppt/fonts/font13.fntdata" ContentType="application/x-fontdata"/>
  <Override PartName="/ppt/fonts/font14.fntdata" ContentType="application/x-fontdata"/>
  <Override PartName="/ppt/fonts/font15.fntdata" ContentType="application/x-fontdata"/>
  <Override PartName="/ppt/fonts/font16.fntdata" ContentType="application/x-fontdata"/>
  <Override PartName="/ppt/fonts/font2.fntdata" ContentType="application/x-fontdata"/>
  <Override PartName="/ppt/fonts/font3.fntdata" ContentType="application/x-fontdata"/>
  <Override PartName="/ppt/fonts/font4.fntdata" ContentType="application/x-fontdata"/>
  <Override PartName="/ppt/fonts/font5.fntdata" ContentType="application/x-fontdata"/>
  <Override PartName="/ppt/fonts/font6.fntdata" ContentType="application/x-fontdata"/>
  <Override PartName="/ppt/fonts/font7.fntdata" ContentType="application/x-fontdata"/>
  <Override PartName="/ppt/fonts/font8.fntdata" ContentType="application/x-fontdata"/>
  <Override PartName="/ppt/fonts/font9.fntdata" ContentType="application/x-fontdata"/>
  <Override PartName="/ppt/media/image11.svg" ContentType="image/svg+xml"/>
  <Override PartName="/ppt/media/image13.svg" ContentType="image/svg+xml"/>
  <Override PartName="/ppt/media/image15.svg" ContentType="image/svg+xml"/>
  <Override PartName="/ppt/media/image25.svg" ContentType="image/svg+xml"/>
  <Override PartName="/ppt/media/image5.svg" ContentType="image/svg+xml"/>
  <Override PartName="/ppt/media/image7.svg" ContentType="image/svg+xml"/>
  <Override PartName="/ppt/media/image9.svg" ContentType="image/svg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ags/tag2.xml" ContentType="application/vnd.openxmlformats-officedocument.presentationml.tags+xml"/>
  <Override PartName="/ppt/tags/tag3.xml" ContentType="application/vnd.openxmlformats-officedocument.presentationml.tags+xml"/>
  <Override PartName="/ppt/tags/tag4.xml" ContentType="application/vnd.openxmlformats-officedocument.presentationml.tags+xml"/>
  <Override PartName="/ppt/tags/tag5.xml" ContentType="application/vnd.openxmlformats-officedocument.presentationml.tags+xml"/>
  <Override PartName="/ppt/tags/tag6.xml" ContentType="application/vnd.openxmlformats-officedocument.presentationml.tag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 autoCompressPictures="0">
  <p:sldMasterIdLst>
    <p:sldMasterId id="2147483648" r:id="rId1"/>
  </p:sldMasterIdLst>
  <p:notesMasterIdLst>
    <p:notesMasterId r:id="rId4"/>
  </p:notesMasterIdLst>
  <p:sldIdLst>
    <p:sldId id="256" r:id="rId3"/>
    <p:sldId id="257" r:id="rId5"/>
    <p:sldId id="258" r:id="rId6"/>
    <p:sldId id="259" r:id="rId7"/>
    <p:sldId id="260" r:id="rId8"/>
    <p:sldId id="261" r:id="rId9"/>
    <p:sldId id="262" r:id="rId10"/>
    <p:sldId id="263" r:id="rId11"/>
    <p:sldId id="264" r:id="rId12"/>
    <p:sldId id="265" r:id="rId13"/>
    <p:sldId id="266" r:id="rId14"/>
  </p:sldIdLst>
  <p:sldSz cx="14630400" cy="8229600"/>
  <p:notesSz cx="8229600" cy="14630400"/>
  <p:embeddedFontLst>
    <p:embeddedFont>
      <p:font typeface="Roboto Slab" pitchFamily="34" charset="0"/>
      <p:bold r:id="rId18"/>
    </p:embeddedFont>
    <p:embeddedFont>
      <p:font typeface="Roboto Slab" pitchFamily="34" charset="-122"/>
      <p:bold r:id="rId19"/>
    </p:embeddedFont>
    <p:embeddedFont>
      <p:font typeface="Roboto Slab" pitchFamily="34" charset="-120"/>
      <p:bold r:id="rId20"/>
    </p:embeddedFont>
    <p:embeddedFont>
      <p:font typeface="Roboto" panose="02000000000000000000" pitchFamily="34" charset="0"/>
      <p:regular r:id="rId21"/>
    </p:embeddedFont>
    <p:embeddedFont>
      <p:font typeface="Roboto" panose="02000000000000000000" pitchFamily="34" charset="-122"/>
      <p:regular r:id="rId22"/>
    </p:embeddedFont>
    <p:embeddedFont>
      <p:font typeface="Roboto" panose="02000000000000000000" pitchFamily="34" charset="-120"/>
      <p:regular r:id="rId23"/>
    </p:embeddedFont>
    <p:embeddedFont>
      <p:font typeface="Consolas" panose="020B0609020204030204" pitchFamily="34" charset="0"/>
      <p:regular r:id="rId24"/>
      <p:bold r:id="rId25"/>
      <p:italic r:id="rId26"/>
      <p:boldItalic r:id="rId27"/>
    </p:embeddedFont>
    <p:embeddedFont>
      <p:font typeface="Consolas" panose="020B0609020204030204" pitchFamily="34" charset="-122"/>
      <p:regular r:id="rId28"/>
    </p:embeddedFont>
    <p:embeddedFont>
      <p:font typeface="Consolas" panose="020B0609020204030204" pitchFamily="34" charset="-120"/>
      <p:regular r:id="rId29"/>
    </p:embeddedFont>
    <p:embeddedFont>
      <p:font typeface="Calibri" panose="020F0502020204030204" charset="0"/>
      <p:regular r:id="rId30"/>
      <p:bold r:id="rId31"/>
      <p:italic r:id="rId32"/>
      <p:boldItalic r:id="rId33"/>
    </p:embeddedFont>
  </p:embeddedFontLst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slide" Target="slides/slide6.xml"/><Relationship Id="rId8" Type="http://schemas.openxmlformats.org/officeDocument/2006/relationships/slide" Target="slides/slide5.xml"/><Relationship Id="rId7" Type="http://schemas.openxmlformats.org/officeDocument/2006/relationships/slide" Target="slides/slide4.xml"/><Relationship Id="rId6" Type="http://schemas.openxmlformats.org/officeDocument/2006/relationships/slide" Target="slides/slide3.xml"/><Relationship Id="rId5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33" Type="http://schemas.openxmlformats.org/officeDocument/2006/relationships/font" Target="fonts/font16.fntdata"/><Relationship Id="rId32" Type="http://schemas.openxmlformats.org/officeDocument/2006/relationships/font" Target="fonts/font15.fntdata"/><Relationship Id="rId31" Type="http://schemas.openxmlformats.org/officeDocument/2006/relationships/font" Target="fonts/font14.fntdata"/><Relationship Id="rId30" Type="http://schemas.openxmlformats.org/officeDocument/2006/relationships/font" Target="fonts/font13.fntdata"/><Relationship Id="rId3" Type="http://schemas.openxmlformats.org/officeDocument/2006/relationships/slide" Target="slides/slide1.xml"/><Relationship Id="rId29" Type="http://schemas.openxmlformats.org/officeDocument/2006/relationships/font" Target="fonts/font12.fntdata"/><Relationship Id="rId28" Type="http://schemas.openxmlformats.org/officeDocument/2006/relationships/font" Target="fonts/font11.fntdata"/><Relationship Id="rId27" Type="http://schemas.openxmlformats.org/officeDocument/2006/relationships/font" Target="fonts/font10.fntdata"/><Relationship Id="rId26" Type="http://schemas.openxmlformats.org/officeDocument/2006/relationships/font" Target="fonts/font9.fntdata"/><Relationship Id="rId25" Type="http://schemas.openxmlformats.org/officeDocument/2006/relationships/font" Target="fonts/font8.fntdata"/><Relationship Id="rId24" Type="http://schemas.openxmlformats.org/officeDocument/2006/relationships/font" Target="fonts/font7.fntdata"/><Relationship Id="rId23" Type="http://schemas.openxmlformats.org/officeDocument/2006/relationships/font" Target="fonts/font6.fntdata"/><Relationship Id="rId22" Type="http://schemas.openxmlformats.org/officeDocument/2006/relationships/font" Target="fonts/font5.fntdata"/><Relationship Id="rId21" Type="http://schemas.openxmlformats.org/officeDocument/2006/relationships/font" Target="fonts/font4.fntdata"/><Relationship Id="rId20" Type="http://schemas.openxmlformats.org/officeDocument/2006/relationships/font" Target="fonts/font3.fntdata"/><Relationship Id="rId2" Type="http://schemas.openxmlformats.org/officeDocument/2006/relationships/theme" Target="theme/theme1.xml"/><Relationship Id="rId19" Type="http://schemas.openxmlformats.org/officeDocument/2006/relationships/font" Target="fonts/font2.fntdata"/><Relationship Id="rId18" Type="http://schemas.openxmlformats.org/officeDocument/2006/relationships/font" Target="fonts/font1.fntdata"/><Relationship Id="rId17" Type="http://schemas.openxmlformats.org/officeDocument/2006/relationships/tableStyles" Target="tableStyles.xml"/><Relationship Id="rId16" Type="http://schemas.openxmlformats.org/officeDocument/2006/relationships/viewProps" Target="viewProps.xml"/><Relationship Id="rId15" Type="http://schemas.openxmlformats.org/officeDocument/2006/relationships/presProps" Target="presProps.xml"/><Relationship Id="rId14" Type="http://schemas.openxmlformats.org/officeDocument/2006/relationships/slide" Target="slides/slide11.xml"/><Relationship Id="rId13" Type="http://schemas.openxmlformats.org/officeDocument/2006/relationships/slide" Target="slides/slide10.xml"/><Relationship Id="rId12" Type="http://schemas.openxmlformats.org/officeDocument/2006/relationships/slide" Target="slides/slide9.xml"/><Relationship Id="rId11" Type="http://schemas.openxmlformats.org/officeDocument/2006/relationships/slide" Target="slides/slide8.xml"/><Relationship Id="rId10" Type="http://schemas.openxmlformats.org/officeDocument/2006/relationships/slide" Target="slides/slide7.xml"/><Relationship Id="rId1" Type="http://schemas.openxmlformats.org/officeDocument/2006/relationships/slideMaster" Target="slideMasters/slide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  <a:endParaRPr lang="en-US"/>
          </a:p>
          <a:p>
            <a:pPr lvl="1"/>
            <a:r>
              <a:rPr lang="en-US"/>
              <a:t>Second level</a:t>
            </a:r>
            <a:endParaRPr lang="en-US"/>
          </a:p>
          <a:p>
            <a:pPr lvl="2"/>
            <a:r>
              <a:rPr lang="en-US"/>
              <a:t>Third level</a:t>
            </a:r>
            <a:endParaRPr lang="en-US"/>
          </a:p>
          <a:p>
            <a:pPr lvl="3"/>
            <a:r>
              <a:rPr lang="en-US"/>
              <a:t>Fourth level</a:t>
            </a:r>
            <a:endParaRPr lang="en-US"/>
          </a:p>
          <a:p>
            <a:pPr lvl="4"/>
            <a:r>
              <a:rPr lang="en-US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3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4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5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6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7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8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9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hyperlink" Target="https://gamma.app/?utm_source=made-with-gamma" TargetMode="External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hyperlink" Target="https://gamma.app/?utm_source=made-with-gamma" TargetMode="External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hyperlink" Target="https://gamma.app/?utm_source=made-with-gamma" TargetMode="External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hyperlink" Target="https://gamma.app/?utm_source=made-with-gamma" TargetMode="External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hyperlink" Target="https://gamma.app/?utm_source=made-with-gamma" TargetMode="External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hyperlink" Target="https://gamma.app/?utm_source=made-with-gamma" TargetMode="External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hyperlink" Target="https://gamma.app/?utm_source=made-with-gamma" TargetMode="External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hyperlink" Target="https://gamma.app/?utm_source=made-with-gamma" TargetMode="External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hyperlink" Target="https://gamma.app/?utm_source=made-with-gamma" TargetMode="External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hyperlink" Target="https://gamma.app/?utm_source=made-with-gamma" TargetMode="External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1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171B21"/>
          </a:solidFill>
        </p:spPr>
      </p:sp>
      <p:sp>
        <p:nvSpPr>
          <p:cNvPr id="3" name="Shape 1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202733"/>
          </a:solidFill>
        </p:spPr>
      </p:sp>
      <p:pic>
        <p:nvPicPr>
          <p:cNvPr id="4" name="Image 0" descr="preencoded.png">
            <a:hlinkClick r:id="rId2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839215" y="7749540"/>
            <a:ext cx="1722605" cy="41148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2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171B21"/>
          </a:solidFill>
        </p:spPr>
      </p:sp>
      <p:sp>
        <p:nvSpPr>
          <p:cNvPr id="3" name="Shape 1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202733"/>
          </a:solidFill>
        </p:spPr>
      </p:sp>
      <p:pic>
        <p:nvPicPr>
          <p:cNvPr id="4" name="Image 0" descr="preencoded.png">
            <a:hlinkClick r:id="rId2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839215" y="7749540"/>
            <a:ext cx="1722605" cy="41148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3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171B21"/>
          </a:solidFill>
        </p:spPr>
      </p:sp>
      <p:sp>
        <p:nvSpPr>
          <p:cNvPr id="3" name="Shape 1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202733"/>
          </a:solidFill>
        </p:spPr>
      </p:sp>
      <p:pic>
        <p:nvPicPr>
          <p:cNvPr id="4" name="Image 0" descr="preencoded.png">
            <a:hlinkClick r:id="rId2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839215" y="7749540"/>
            <a:ext cx="1722605" cy="41148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4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171B21"/>
          </a:solidFill>
        </p:spPr>
      </p:sp>
      <p:sp>
        <p:nvSpPr>
          <p:cNvPr id="3" name="Shape 1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202733"/>
          </a:solidFill>
        </p:spPr>
      </p:sp>
      <p:pic>
        <p:nvPicPr>
          <p:cNvPr id="4" name="Image 0" descr="preencoded.png">
            <a:hlinkClick r:id="rId2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839215" y="7749540"/>
            <a:ext cx="1722605" cy="41148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5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171B21"/>
          </a:solidFill>
        </p:spPr>
      </p:sp>
      <p:sp>
        <p:nvSpPr>
          <p:cNvPr id="3" name="Shape 1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202733"/>
          </a:solidFill>
        </p:spPr>
      </p:sp>
      <p:pic>
        <p:nvPicPr>
          <p:cNvPr id="4" name="Image 0" descr="preencoded.png">
            <a:hlinkClick r:id="rId2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839215" y="7749540"/>
            <a:ext cx="1722605" cy="41148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6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171B21"/>
          </a:solidFill>
        </p:spPr>
      </p:sp>
      <p:sp>
        <p:nvSpPr>
          <p:cNvPr id="3" name="Shape 1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202733"/>
          </a:solidFill>
        </p:spPr>
      </p:sp>
      <p:pic>
        <p:nvPicPr>
          <p:cNvPr id="4" name="Image 0" descr="preencoded.png">
            <a:hlinkClick r:id="rId2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839215" y="7749540"/>
            <a:ext cx="1722605" cy="41148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7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171B21"/>
          </a:solidFill>
        </p:spPr>
      </p:sp>
      <p:sp>
        <p:nvSpPr>
          <p:cNvPr id="3" name="Shape 1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202733"/>
          </a:solidFill>
        </p:spPr>
      </p:sp>
      <p:pic>
        <p:nvPicPr>
          <p:cNvPr id="4" name="Image 0" descr="preencoded.png">
            <a:hlinkClick r:id="rId2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839215" y="7749540"/>
            <a:ext cx="1722605" cy="41148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8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171B21"/>
          </a:solidFill>
        </p:spPr>
      </p:sp>
      <p:sp>
        <p:nvSpPr>
          <p:cNvPr id="3" name="Shape 1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202733"/>
          </a:solidFill>
        </p:spPr>
      </p:sp>
      <p:pic>
        <p:nvPicPr>
          <p:cNvPr id="4" name="Image 0" descr="preencoded.png">
            <a:hlinkClick r:id="rId2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839215" y="7749540"/>
            <a:ext cx="1722605" cy="41148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9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171B21"/>
          </a:solidFill>
        </p:spPr>
      </p:sp>
      <p:sp>
        <p:nvSpPr>
          <p:cNvPr id="3" name="Shape 1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202733"/>
          </a:solidFill>
        </p:spPr>
      </p:sp>
      <p:pic>
        <p:nvPicPr>
          <p:cNvPr id="4" name="Image 0" descr="preencoded.png">
            <a:hlinkClick r:id="rId2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839215" y="7749540"/>
            <a:ext cx="1722605" cy="41148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10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171B21"/>
          </a:solidFill>
        </p:spPr>
      </p:sp>
      <p:sp>
        <p:nvSpPr>
          <p:cNvPr id="3" name="Shape 1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202733"/>
          </a:solidFill>
        </p:spPr>
      </p:sp>
      <p:pic>
        <p:nvPicPr>
          <p:cNvPr id="4" name="Image 0" descr="preencoded.png">
            <a:hlinkClick r:id="rId2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839215" y="7749540"/>
            <a:ext cx="1722605" cy="411480"/>
          </a:xfrm>
          <a:prstGeom prst="rect">
            <a:avLst/>
          </a:prstGeom>
        </p:spPr>
      </p:pic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9.xml"/><Relationship Id="rId8" Type="http://schemas.openxmlformats.org/officeDocument/2006/relationships/slideLayout" Target="../slideLayouts/slideLayout8.xml"/><Relationship Id="rId7" Type="http://schemas.openxmlformats.org/officeDocument/2006/relationships/slideLayout" Target="../slideLayouts/slideLayout7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2" Type="http://schemas.openxmlformats.org/officeDocument/2006/relationships/theme" Target="../theme/theme1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.xml"/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4.xml"/></Relationships>
</file>

<file path=ppt/slides/_rels/slide4.xml.rels><?xml version="1.0" encoding="UTF-8" standalone="yes"?>
<Relationships xmlns="http://schemas.openxmlformats.org/package/2006/relationships"><Relationship Id="rId9" Type="http://schemas.openxmlformats.org/officeDocument/2006/relationships/image" Target="../media/image11.svg"/><Relationship Id="rId8" Type="http://schemas.openxmlformats.org/officeDocument/2006/relationships/image" Target="../media/image10.png"/><Relationship Id="rId7" Type="http://schemas.openxmlformats.org/officeDocument/2006/relationships/image" Target="../media/image9.svg"/><Relationship Id="rId6" Type="http://schemas.openxmlformats.org/officeDocument/2006/relationships/image" Target="../media/image8.png"/><Relationship Id="rId5" Type="http://schemas.openxmlformats.org/officeDocument/2006/relationships/image" Target="../media/image7.svg"/><Relationship Id="rId4" Type="http://schemas.openxmlformats.org/officeDocument/2006/relationships/image" Target="../media/image6.png"/><Relationship Id="rId3" Type="http://schemas.openxmlformats.org/officeDocument/2006/relationships/image" Target="../media/image5.svg"/><Relationship Id="rId2" Type="http://schemas.openxmlformats.org/officeDocument/2006/relationships/image" Target="../media/image4.png"/><Relationship Id="rId15" Type="http://schemas.openxmlformats.org/officeDocument/2006/relationships/notesSlide" Target="../notesSlides/notesSlide4.xml"/><Relationship Id="rId14" Type="http://schemas.openxmlformats.org/officeDocument/2006/relationships/slideLayout" Target="../slideLayouts/slideLayout5.xml"/><Relationship Id="rId13" Type="http://schemas.openxmlformats.org/officeDocument/2006/relationships/image" Target="../media/image15.svg"/><Relationship Id="rId12" Type="http://schemas.openxmlformats.org/officeDocument/2006/relationships/image" Target="../media/image14.png"/><Relationship Id="rId11" Type="http://schemas.openxmlformats.org/officeDocument/2006/relationships/image" Target="../media/image13.svg"/><Relationship Id="rId10" Type="http://schemas.openxmlformats.org/officeDocument/2006/relationships/image" Target="../media/image12.png"/><Relationship Id="rId1" Type="http://schemas.openxmlformats.org/officeDocument/2006/relationships/image" Target="../media/image3.png"/></Relationships>
</file>

<file path=ppt/slides/_rels/slide5.xml.rels><?xml version="1.0" encoding="UTF-8" standalone="yes"?>
<Relationships xmlns="http://schemas.openxmlformats.org/package/2006/relationships"><Relationship Id="rId4" Type="http://schemas.openxmlformats.org/officeDocument/2006/relationships/notesSlide" Target="../notesSlides/notesSlide5.xml"/><Relationship Id="rId3" Type="http://schemas.openxmlformats.org/officeDocument/2006/relationships/slideLayout" Target="../slideLayouts/slideLayout6.xml"/><Relationship Id="rId2" Type="http://schemas.openxmlformats.org/officeDocument/2006/relationships/image" Target="../media/image17.png"/><Relationship Id="rId1" Type="http://schemas.openxmlformats.org/officeDocument/2006/relationships/image" Target="../media/image16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6.xml"/><Relationship Id="rId2" Type="http://schemas.openxmlformats.org/officeDocument/2006/relationships/slideLayout" Target="../slideLayouts/slideLayout7.xml"/><Relationship Id="rId1" Type="http://schemas.openxmlformats.org/officeDocument/2006/relationships/image" Target="../media/image18.png"/></Relationships>
</file>

<file path=ppt/slides/_rels/slide7.xml.rels><?xml version="1.0" encoding="UTF-8" standalone="yes"?>
<Relationships xmlns="http://schemas.openxmlformats.org/package/2006/relationships"><Relationship Id="rId9" Type="http://schemas.openxmlformats.org/officeDocument/2006/relationships/image" Target="../media/image21.png"/><Relationship Id="rId8" Type="http://schemas.openxmlformats.org/officeDocument/2006/relationships/image" Target="../media/image20.png"/><Relationship Id="rId7" Type="http://schemas.openxmlformats.org/officeDocument/2006/relationships/image" Target="../media/image19.png"/><Relationship Id="rId6" Type="http://schemas.openxmlformats.org/officeDocument/2006/relationships/tags" Target="../tags/tag6.xml"/><Relationship Id="rId5" Type="http://schemas.openxmlformats.org/officeDocument/2006/relationships/tags" Target="../tags/tag5.xml"/><Relationship Id="rId4" Type="http://schemas.openxmlformats.org/officeDocument/2006/relationships/tags" Target="../tags/tag4.xml"/><Relationship Id="rId3" Type="http://schemas.openxmlformats.org/officeDocument/2006/relationships/tags" Target="../tags/tag3.xml"/><Relationship Id="rId2" Type="http://schemas.openxmlformats.org/officeDocument/2006/relationships/tags" Target="../tags/tag2.xml"/><Relationship Id="rId11" Type="http://schemas.openxmlformats.org/officeDocument/2006/relationships/notesSlide" Target="../notesSlides/notesSlide7.xml"/><Relationship Id="rId10" Type="http://schemas.openxmlformats.org/officeDocument/2006/relationships/slideLayout" Target="../slideLayouts/slideLayout8.xml"/><Relationship Id="rId1" Type="http://schemas.openxmlformats.org/officeDocument/2006/relationships/tags" Target="../tags/tag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8.xml"/><Relationship Id="rId2" Type="http://schemas.openxmlformats.org/officeDocument/2006/relationships/slideLayout" Target="../slideLayouts/slideLayout9.xml"/><Relationship Id="rId1" Type="http://schemas.openxmlformats.org/officeDocument/2006/relationships/image" Target="../media/image22.png"/></Relationships>
</file>

<file path=ppt/slides/_rels/slide9.xml.rels><?xml version="1.0" encoding="UTF-8" standalone="yes"?>
<Relationships xmlns="http://schemas.openxmlformats.org/package/2006/relationships"><Relationship Id="rId4" Type="http://schemas.openxmlformats.org/officeDocument/2006/relationships/notesSlide" Target="../notesSlides/notesSlide9.xml"/><Relationship Id="rId3" Type="http://schemas.openxmlformats.org/officeDocument/2006/relationships/slideLayout" Target="../slideLayouts/slideLayout10.xml"/><Relationship Id="rId2" Type="http://schemas.openxmlformats.org/officeDocument/2006/relationships/image" Target="../media/image24.png"/><Relationship Id="rId1" Type="http://schemas.openxmlformats.org/officeDocument/2006/relationships/image" Target="../media/image23.png"/></Relationships>
</file>

<file path=ppt/slides/_rels/slide10.xml.rels><?xml version="1.0" encoding="UTF-8" standalone="yes"?>
<Relationships xmlns="http://schemas.openxmlformats.org/package/2006/relationships"><Relationship Id="rId4" Type="http://schemas.openxmlformats.org/officeDocument/2006/relationships/notesSlide" Target="../notesSlides/notesSlide10.xml"/><Relationship Id="rId3" Type="http://schemas.openxmlformats.org/officeDocument/2006/relationships/slideLayout" Target="../slideLayouts/slideLayout11.xml"/><Relationship Id="rId2" Type="http://schemas.openxmlformats.org/officeDocument/2006/relationships/image" Target="../media/image25.svg"/><Relationship Id="rId1" Type="http://schemas.openxmlformats.org/officeDocument/2006/relationships/image" Target="../media/image4.png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00" y="0"/>
            <a:ext cx="5486400" cy="82296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793790" y="2209562"/>
            <a:ext cx="7556421" cy="2126337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ts val="5550"/>
              </a:lnSpc>
              <a:buNone/>
            </a:pPr>
            <a:r>
              <a:rPr lang="en-US" sz="4450" dirty="0">
                <a:solidFill>
                  <a:srgbClr val="76B9FF"/>
                </a:solidFill>
                <a:latin typeface="Roboto Slab" pitchFamily="34" charset="0"/>
                <a:ea typeface="Roboto Slab" pitchFamily="34" charset="-122"/>
                <a:cs typeface="Roboto Slab" pitchFamily="34" charset="-120"/>
              </a:rPr>
              <a:t>Интеллектуальный менеджер задач «TickTask»</a:t>
            </a:r>
            <a:endParaRPr lang="en-US" sz="4450" dirty="0"/>
          </a:p>
        </p:txBody>
      </p:sp>
      <p:sp>
        <p:nvSpPr>
          <p:cNvPr id="4" name="Text 1"/>
          <p:cNvSpPr/>
          <p:nvPr/>
        </p:nvSpPr>
        <p:spPr>
          <a:xfrm>
            <a:off x="793790" y="4676061"/>
            <a:ext cx="7556421" cy="725805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ts val="2850"/>
              </a:lnSpc>
              <a:buNone/>
            </a:pPr>
            <a:r>
              <a:rPr lang="en-US" sz="1750" dirty="0">
                <a:solidFill>
                  <a:srgbClr val="D6E5EF"/>
                </a:solidFill>
                <a:latin typeface="Roboto" panose="02000000000000000000" pitchFamily="34" charset="0"/>
                <a:ea typeface="Roboto" panose="02000000000000000000" pitchFamily="34" charset="-122"/>
                <a:cs typeface="Roboto" panose="02000000000000000000" pitchFamily="34" charset="-120"/>
              </a:rPr>
              <a:t>Автоматизация планирования с помощью искусственного интеллекта</a:t>
            </a:r>
            <a:endParaRPr lang="en-US" sz="1750" dirty="0"/>
          </a:p>
        </p:txBody>
      </p:sp>
      <p:sp>
        <p:nvSpPr>
          <p:cNvPr id="5" name="Text 2"/>
          <p:cNvSpPr/>
          <p:nvPr/>
        </p:nvSpPr>
        <p:spPr>
          <a:xfrm>
            <a:off x="793790" y="5657017"/>
            <a:ext cx="7556421" cy="362903"/>
          </a:xfrm>
          <a:prstGeom prst="rect">
            <a:avLst/>
          </a:prstGeom>
          <a:noFill/>
        </p:spPr>
        <p:txBody>
          <a:bodyPr wrap="none" lIns="0" tIns="0" rIns="0" bIns="0" rtlCol="0" anchor="t"/>
          <a:lstStyle/>
          <a:p>
            <a:pPr marL="0" indent="0" algn="l">
              <a:lnSpc>
                <a:spcPts val="2850"/>
              </a:lnSpc>
              <a:buNone/>
            </a:pPr>
            <a:r>
              <a:rPr lang="en-US" sz="1750" b="1" dirty="0">
                <a:solidFill>
                  <a:srgbClr val="D6E5EF"/>
                </a:solidFill>
                <a:latin typeface="Roboto" panose="02000000000000000000" pitchFamily="34" charset="0"/>
                <a:ea typeface="Roboto" panose="02000000000000000000" pitchFamily="34" charset="-122"/>
                <a:cs typeface="Roboto" panose="02000000000000000000" pitchFamily="34" charset="-120"/>
              </a:rPr>
              <a:t>Авторы:</a:t>
            </a:r>
            <a:r>
              <a:rPr lang="en-US" sz="1750" dirty="0">
                <a:solidFill>
                  <a:srgbClr val="D6E5EF"/>
                </a:solidFill>
                <a:latin typeface="Roboto" panose="02000000000000000000" pitchFamily="34" charset="0"/>
                <a:ea typeface="Roboto" panose="02000000000000000000" pitchFamily="34" charset="-122"/>
                <a:cs typeface="Roboto" panose="02000000000000000000" pitchFamily="34" charset="-120"/>
              </a:rPr>
              <a:t> Солодков Лев, Мельник Павел  |  </a:t>
            </a:r>
            <a:r>
              <a:rPr lang="en-US" sz="1750" b="1" dirty="0">
                <a:solidFill>
                  <a:srgbClr val="D6E5EF"/>
                </a:solidFill>
                <a:latin typeface="Roboto" panose="02000000000000000000" pitchFamily="34" charset="0"/>
                <a:ea typeface="Roboto" panose="02000000000000000000" pitchFamily="34" charset="-122"/>
                <a:cs typeface="Roboto" panose="02000000000000000000" pitchFamily="34" charset="-120"/>
              </a:rPr>
              <a:t>Год:</a:t>
            </a:r>
            <a:r>
              <a:rPr lang="en-US" sz="1750" dirty="0">
                <a:solidFill>
                  <a:srgbClr val="D6E5EF"/>
                </a:solidFill>
                <a:latin typeface="Roboto" panose="02000000000000000000" pitchFamily="34" charset="0"/>
                <a:ea typeface="Roboto" panose="02000000000000000000" pitchFamily="34" charset="-122"/>
                <a:cs typeface="Roboto" panose="02000000000000000000" pitchFamily="34" charset="-120"/>
              </a:rPr>
              <a:t> 2026</a:t>
            </a:r>
            <a:endParaRPr lang="en-US" sz="17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93790" y="1773079"/>
            <a:ext cx="6156484" cy="708779"/>
          </a:xfrm>
          <a:prstGeom prst="rect">
            <a:avLst/>
          </a:prstGeom>
          <a:noFill/>
        </p:spPr>
        <p:txBody>
          <a:bodyPr wrap="none" lIns="0" tIns="0" rIns="0" bIns="0" rtlCol="0" anchor="t"/>
          <a:lstStyle/>
          <a:p>
            <a:pPr marL="0" indent="0" algn="l">
              <a:lnSpc>
                <a:spcPts val="5550"/>
              </a:lnSpc>
              <a:buNone/>
            </a:pPr>
            <a:r>
              <a:rPr lang="en-US" sz="4450" dirty="0">
                <a:solidFill>
                  <a:srgbClr val="76B9FF"/>
                </a:solidFill>
                <a:latin typeface="Roboto Slab" pitchFamily="34" charset="0"/>
                <a:ea typeface="Roboto Slab" pitchFamily="34" charset="-122"/>
                <a:cs typeface="Roboto Slab" pitchFamily="34" charset="-120"/>
              </a:rPr>
              <a:t>Актуальность и цель</a:t>
            </a:r>
            <a:endParaRPr lang="en-US" sz="4450" dirty="0"/>
          </a:p>
        </p:txBody>
      </p:sp>
      <p:sp>
        <p:nvSpPr>
          <p:cNvPr id="3" name="Shape 1"/>
          <p:cNvSpPr/>
          <p:nvPr/>
        </p:nvSpPr>
        <p:spPr>
          <a:xfrm>
            <a:off x="630436" y="2822019"/>
            <a:ext cx="6571417" cy="3634502"/>
          </a:xfrm>
          <a:prstGeom prst="roundRect">
            <a:avLst>
              <a:gd name="adj" fmla="val 936"/>
            </a:avLst>
          </a:prstGeom>
          <a:solidFill>
            <a:srgbClr val="0D0A2C"/>
          </a:solidFill>
        </p:spPr>
      </p:sp>
      <p:sp>
        <p:nvSpPr>
          <p:cNvPr id="4" name="Text 2"/>
          <p:cNvSpPr/>
          <p:nvPr/>
        </p:nvSpPr>
        <p:spPr>
          <a:xfrm>
            <a:off x="857250" y="3048833"/>
            <a:ext cx="2835235" cy="354330"/>
          </a:xfrm>
          <a:prstGeom prst="rect">
            <a:avLst/>
          </a:prstGeom>
          <a:noFill/>
        </p:spPr>
        <p:txBody>
          <a:bodyPr wrap="none" lIns="0" tIns="0" rIns="0" bIns="0" rtlCol="0" anchor="t"/>
          <a:lstStyle/>
          <a:p>
            <a:pPr marL="0" indent="0" algn="l">
              <a:lnSpc>
                <a:spcPts val="2750"/>
              </a:lnSpc>
              <a:buNone/>
            </a:pPr>
            <a:r>
              <a:rPr lang="en-US" sz="2200" dirty="0">
                <a:solidFill>
                  <a:srgbClr val="76B9FF"/>
                </a:solidFill>
                <a:latin typeface="Roboto Slab" pitchFamily="34" charset="0"/>
                <a:ea typeface="Roboto Slab" pitchFamily="34" charset="-122"/>
                <a:cs typeface="Roboto Slab" pitchFamily="34" charset="-120"/>
              </a:rPr>
              <a:t>Проблема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857250" y="3629978"/>
            <a:ext cx="6117788" cy="1088708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ts val="2850"/>
              </a:lnSpc>
              <a:buNone/>
            </a:pPr>
            <a:r>
              <a:rPr lang="en-US" sz="1750" dirty="0">
                <a:solidFill>
                  <a:srgbClr val="D6E5EF"/>
                </a:solidFill>
                <a:latin typeface="Roboto" panose="02000000000000000000" pitchFamily="34" charset="0"/>
                <a:ea typeface="Roboto" panose="02000000000000000000" pitchFamily="34" charset="-122"/>
                <a:cs typeface="Roboto" panose="02000000000000000000" pitchFamily="34" charset="-120"/>
              </a:rPr>
              <a:t>Обычные списки дел быстро переполняются, а ручная сортировка задач по категориям и важности занимает много времени.</a:t>
            </a:r>
            <a:endParaRPr lang="en-US" sz="1750" dirty="0"/>
          </a:p>
        </p:txBody>
      </p:sp>
      <p:sp>
        <p:nvSpPr>
          <p:cNvPr id="6" name="Text 4"/>
          <p:cNvSpPr/>
          <p:nvPr/>
        </p:nvSpPr>
        <p:spPr>
          <a:xfrm>
            <a:off x="7599521" y="3048833"/>
            <a:ext cx="2835235" cy="354330"/>
          </a:xfrm>
          <a:prstGeom prst="rect">
            <a:avLst/>
          </a:prstGeom>
          <a:noFill/>
        </p:spPr>
        <p:txBody>
          <a:bodyPr wrap="none" lIns="0" tIns="0" rIns="0" bIns="0" rtlCol="0" anchor="t"/>
          <a:lstStyle/>
          <a:p>
            <a:pPr marL="0" indent="0" algn="l">
              <a:lnSpc>
                <a:spcPts val="2750"/>
              </a:lnSpc>
              <a:buNone/>
            </a:pPr>
            <a:r>
              <a:rPr lang="en-US" sz="2200" dirty="0">
                <a:solidFill>
                  <a:srgbClr val="76B9FF"/>
                </a:solidFill>
                <a:latin typeface="Roboto Slab" pitchFamily="34" charset="0"/>
                <a:ea typeface="Roboto Slab" pitchFamily="34" charset="-122"/>
                <a:cs typeface="Roboto Slab" pitchFamily="34" charset="-120"/>
              </a:rPr>
              <a:t>Цель проекта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7599521" y="3629978"/>
            <a:ext cx="6244709" cy="1088708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ts val="2850"/>
              </a:lnSpc>
              <a:buNone/>
            </a:pPr>
            <a:r>
              <a:rPr lang="en-US" sz="1750" dirty="0">
                <a:solidFill>
                  <a:srgbClr val="D6E5EF"/>
                </a:solidFill>
                <a:latin typeface="Roboto" panose="02000000000000000000" pitchFamily="34" charset="0"/>
                <a:ea typeface="Roboto" panose="02000000000000000000" pitchFamily="34" charset="-122"/>
                <a:cs typeface="Roboto" panose="02000000000000000000" pitchFamily="34" charset="-120"/>
              </a:rPr>
              <a:t>Создать веб-приложение, которое само анализирует текст задачи, выставляет приоритеты и составляет оптимальный план дня.</a:t>
            </a:r>
            <a:endParaRPr lang="en-US" sz="1750" dirty="0"/>
          </a:p>
        </p:txBody>
      </p:sp>
      <p:sp>
        <p:nvSpPr>
          <p:cNvPr id="8" name="Text 6"/>
          <p:cNvSpPr/>
          <p:nvPr/>
        </p:nvSpPr>
        <p:spPr>
          <a:xfrm>
            <a:off x="7599521" y="4945499"/>
            <a:ext cx="2835235" cy="354330"/>
          </a:xfrm>
          <a:prstGeom prst="rect">
            <a:avLst/>
          </a:prstGeom>
          <a:noFill/>
        </p:spPr>
        <p:txBody>
          <a:bodyPr wrap="none" lIns="0" tIns="0" rIns="0" bIns="0" rtlCol="0" anchor="t"/>
          <a:lstStyle/>
          <a:p>
            <a:pPr marL="0" indent="0" algn="l">
              <a:lnSpc>
                <a:spcPts val="2750"/>
              </a:lnSpc>
              <a:buNone/>
            </a:pPr>
            <a:r>
              <a:rPr lang="en-US" sz="2200" dirty="0">
                <a:solidFill>
                  <a:srgbClr val="76B9FF"/>
                </a:solidFill>
                <a:latin typeface="Roboto Slab" pitchFamily="34" charset="0"/>
                <a:ea typeface="Roboto Slab" pitchFamily="34" charset="-122"/>
                <a:cs typeface="Roboto Slab" pitchFamily="34" charset="-120"/>
              </a:rPr>
              <a:t>Зачем это нужно?</a:t>
            </a:r>
            <a:endParaRPr lang="en-US" sz="2200" dirty="0"/>
          </a:p>
        </p:txBody>
      </p:sp>
      <p:sp>
        <p:nvSpPr>
          <p:cNvPr id="9" name="Text 7"/>
          <p:cNvSpPr/>
          <p:nvPr/>
        </p:nvSpPr>
        <p:spPr>
          <a:xfrm>
            <a:off x="7599521" y="5526643"/>
            <a:ext cx="6244709" cy="725805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ts val="2850"/>
              </a:lnSpc>
              <a:buNone/>
            </a:pPr>
            <a:r>
              <a:rPr lang="en-US" sz="1750" dirty="0">
                <a:solidFill>
                  <a:srgbClr val="D6E5EF"/>
                </a:solidFill>
                <a:latin typeface="Roboto" panose="02000000000000000000" pitchFamily="34" charset="0"/>
                <a:ea typeface="Roboto" panose="02000000000000000000" pitchFamily="34" charset="-122"/>
                <a:cs typeface="Roboto" panose="02000000000000000000" pitchFamily="34" charset="-120"/>
              </a:rPr>
              <a:t>Чтобы пользователь тратил время на </a:t>
            </a:r>
            <a:r>
              <a:rPr lang="en-US" sz="1750" b="1" dirty="0">
                <a:solidFill>
                  <a:srgbClr val="D6E5EF"/>
                </a:solidFill>
                <a:latin typeface="Roboto" panose="02000000000000000000" pitchFamily="34" charset="0"/>
                <a:ea typeface="Roboto" panose="02000000000000000000" pitchFamily="34" charset="-122"/>
                <a:cs typeface="Roboto" panose="02000000000000000000" pitchFamily="34" charset="-120"/>
              </a:rPr>
              <a:t>выполнение дел</a:t>
            </a:r>
            <a:r>
              <a:rPr lang="en-US" sz="1750" dirty="0">
                <a:solidFill>
                  <a:srgbClr val="D6E5EF"/>
                </a:solidFill>
                <a:latin typeface="Roboto" panose="02000000000000000000" pitchFamily="34" charset="0"/>
                <a:ea typeface="Roboto" panose="02000000000000000000" pitchFamily="34" charset="-122"/>
                <a:cs typeface="Roboto" panose="02000000000000000000" pitchFamily="34" charset="-120"/>
              </a:rPr>
              <a:t>, а не на их сортировку.</a:t>
            </a:r>
            <a:endParaRPr lang="en-US" sz="17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34628" y="537091"/>
            <a:ext cx="4695944" cy="586978"/>
          </a:xfrm>
          <a:prstGeom prst="rect">
            <a:avLst/>
          </a:prstGeom>
          <a:noFill/>
        </p:spPr>
        <p:txBody>
          <a:bodyPr wrap="none" lIns="0" tIns="0" rIns="0" bIns="0" rtlCol="0" anchor="t"/>
          <a:lstStyle/>
          <a:p>
            <a:pPr marL="0" indent="0" algn="l">
              <a:lnSpc>
                <a:spcPts val="4600"/>
              </a:lnSpc>
              <a:buNone/>
            </a:pPr>
            <a:r>
              <a:rPr lang="en-US" sz="3650" dirty="0">
                <a:solidFill>
                  <a:srgbClr val="76B9FF"/>
                </a:solidFill>
                <a:latin typeface="Roboto Slab" pitchFamily="34" charset="0"/>
                <a:ea typeface="Roboto Slab" pitchFamily="34" charset="-122"/>
                <a:cs typeface="Roboto Slab" pitchFamily="34" charset="-120"/>
              </a:rPr>
              <a:t>Задачи проекта</a:t>
            </a:r>
            <a:endParaRPr lang="en-US" sz="3650" dirty="0"/>
          </a:p>
        </p:txBody>
      </p:sp>
      <p:sp>
        <p:nvSpPr>
          <p:cNvPr id="3" name="Shape 1"/>
          <p:cNvSpPr/>
          <p:nvPr/>
        </p:nvSpPr>
        <p:spPr>
          <a:xfrm>
            <a:off x="834628" y="1435179"/>
            <a:ext cx="12961025" cy="1127046"/>
          </a:xfrm>
          <a:prstGeom prst="roundRect">
            <a:avLst>
              <a:gd name="adj" fmla="val 2500"/>
            </a:avLst>
          </a:prstGeom>
          <a:solidFill>
            <a:srgbClr val="202733"/>
          </a:solidFill>
          <a:ln w="22860">
            <a:solidFill>
              <a:srgbClr val="585F6B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57488" y="1458039"/>
            <a:ext cx="751284" cy="1081326"/>
          </a:xfrm>
          <a:prstGeom prst="roundRect">
            <a:avLst>
              <a:gd name="adj" fmla="val 99"/>
            </a:avLst>
          </a:prstGeom>
          <a:solidFill>
            <a:srgbClr val="3F4652"/>
          </a:solidFill>
        </p:spPr>
      </p:sp>
      <p:sp>
        <p:nvSpPr>
          <p:cNvPr id="5" name="Text 3"/>
          <p:cNvSpPr/>
          <p:nvPr/>
        </p:nvSpPr>
        <p:spPr>
          <a:xfrm>
            <a:off x="1092279" y="1822609"/>
            <a:ext cx="281702" cy="352187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ctr">
              <a:lnSpc>
                <a:spcPts val="2200"/>
              </a:lnSpc>
              <a:buNone/>
            </a:pPr>
            <a:r>
              <a:rPr lang="en-US" sz="2200" dirty="0">
                <a:solidFill>
                  <a:srgbClr val="D6E5EF"/>
                </a:solidFill>
                <a:latin typeface="Roboto Slab" pitchFamily="34" charset="0"/>
                <a:ea typeface="Roboto Slab" pitchFamily="34" charset="-122"/>
                <a:cs typeface="Roboto Slab" pitchFamily="34" charset="-120"/>
              </a:rPr>
              <a:t>1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1764268" y="1645801"/>
            <a:ext cx="2347912" cy="293489"/>
          </a:xfrm>
          <a:prstGeom prst="rect">
            <a:avLst/>
          </a:prstGeom>
          <a:noFill/>
        </p:spPr>
        <p:txBody>
          <a:bodyPr wrap="none" lIns="0" tIns="0" rIns="0" bIns="0" rtlCol="0" anchor="t"/>
          <a:lstStyle/>
          <a:p>
            <a:pPr marL="0" indent="0" algn="l">
              <a:lnSpc>
                <a:spcPts val="2300"/>
              </a:lnSpc>
              <a:buNone/>
            </a:pPr>
            <a:r>
              <a:rPr lang="en-US" sz="1800" dirty="0">
                <a:solidFill>
                  <a:srgbClr val="D6E5EF"/>
                </a:solidFill>
                <a:latin typeface="Roboto Slab" pitchFamily="34" charset="0"/>
                <a:ea typeface="Roboto Slab" pitchFamily="34" charset="-122"/>
                <a:cs typeface="Roboto Slab" pitchFamily="34" charset="-120"/>
              </a:rPr>
              <a:t>Авторизация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1764268" y="2032516"/>
            <a:ext cx="11820763" cy="274677"/>
          </a:xfrm>
          <a:prstGeom prst="rect">
            <a:avLst/>
          </a:prstGeom>
          <a:noFill/>
        </p:spPr>
        <p:txBody>
          <a:bodyPr wrap="none" lIns="0" tIns="0" rIns="0" bIns="0" rtlCol="0" anchor="t"/>
          <a:lstStyle/>
          <a:p>
            <a:pPr marL="0" indent="0" algn="l">
              <a:lnSpc>
                <a:spcPts val="2150"/>
              </a:lnSpc>
              <a:buNone/>
            </a:pPr>
            <a:r>
              <a:rPr lang="en-US" sz="1450" dirty="0">
                <a:solidFill>
                  <a:srgbClr val="D6E5EF"/>
                </a:solidFill>
                <a:latin typeface="Roboto" panose="02000000000000000000" pitchFamily="34" charset="0"/>
                <a:ea typeface="Roboto" panose="02000000000000000000" pitchFamily="34" charset="-122"/>
                <a:cs typeface="Roboto" panose="02000000000000000000" pitchFamily="34" charset="-120"/>
              </a:rPr>
              <a:t>Реализовать систему регистрации и личных кабинетов.</a:t>
            </a:r>
            <a:endParaRPr lang="en-US" sz="1450" dirty="0"/>
          </a:p>
        </p:txBody>
      </p:sp>
      <p:sp>
        <p:nvSpPr>
          <p:cNvPr id="8" name="Shape 6"/>
          <p:cNvSpPr/>
          <p:nvPr/>
        </p:nvSpPr>
        <p:spPr>
          <a:xfrm>
            <a:off x="834628" y="2717721"/>
            <a:ext cx="12961025" cy="1127046"/>
          </a:xfrm>
          <a:prstGeom prst="roundRect">
            <a:avLst>
              <a:gd name="adj" fmla="val 2500"/>
            </a:avLst>
          </a:prstGeom>
          <a:solidFill>
            <a:srgbClr val="202733"/>
          </a:solidFill>
          <a:ln w="22860">
            <a:solidFill>
              <a:srgbClr val="585F6B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857488" y="2740581"/>
            <a:ext cx="751284" cy="1081326"/>
          </a:xfrm>
          <a:prstGeom prst="roundRect">
            <a:avLst>
              <a:gd name="adj" fmla="val 99"/>
            </a:avLst>
          </a:prstGeom>
          <a:solidFill>
            <a:srgbClr val="3F4652"/>
          </a:solidFill>
        </p:spPr>
      </p:sp>
      <p:sp>
        <p:nvSpPr>
          <p:cNvPr id="10" name="Text 8"/>
          <p:cNvSpPr/>
          <p:nvPr/>
        </p:nvSpPr>
        <p:spPr>
          <a:xfrm>
            <a:off x="1092279" y="3105150"/>
            <a:ext cx="281702" cy="352187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ctr">
              <a:lnSpc>
                <a:spcPts val="2200"/>
              </a:lnSpc>
              <a:buNone/>
            </a:pPr>
            <a:r>
              <a:rPr lang="en-US" sz="2200" dirty="0">
                <a:solidFill>
                  <a:srgbClr val="D6E5EF"/>
                </a:solidFill>
                <a:latin typeface="Roboto Slab" pitchFamily="34" charset="0"/>
                <a:ea typeface="Roboto Slab" pitchFamily="34" charset="-122"/>
                <a:cs typeface="Roboto Slab" pitchFamily="34" charset="-120"/>
              </a:rPr>
              <a:t>2</a:t>
            </a:r>
            <a:endParaRPr lang="en-US" sz="2200" dirty="0"/>
          </a:p>
        </p:txBody>
      </p:sp>
      <p:sp>
        <p:nvSpPr>
          <p:cNvPr id="11" name="Text 9"/>
          <p:cNvSpPr/>
          <p:nvPr/>
        </p:nvSpPr>
        <p:spPr>
          <a:xfrm>
            <a:off x="1764268" y="2928342"/>
            <a:ext cx="2347912" cy="293489"/>
          </a:xfrm>
          <a:prstGeom prst="rect">
            <a:avLst/>
          </a:prstGeom>
          <a:noFill/>
        </p:spPr>
        <p:txBody>
          <a:bodyPr wrap="none" lIns="0" tIns="0" rIns="0" bIns="0" rtlCol="0" anchor="t"/>
          <a:lstStyle/>
          <a:p>
            <a:pPr marL="0" indent="0" algn="l">
              <a:lnSpc>
                <a:spcPts val="2300"/>
              </a:lnSpc>
              <a:buNone/>
            </a:pPr>
            <a:r>
              <a:rPr lang="en-US" sz="1800" dirty="0">
                <a:solidFill>
                  <a:srgbClr val="D6E5EF"/>
                </a:solidFill>
                <a:latin typeface="Roboto Slab" pitchFamily="34" charset="0"/>
                <a:ea typeface="Roboto Slab" pitchFamily="34" charset="-122"/>
                <a:cs typeface="Roboto Slab" pitchFamily="34" charset="-120"/>
              </a:rPr>
              <a:t>Нейросеть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1764268" y="3315057"/>
            <a:ext cx="11820763" cy="274677"/>
          </a:xfrm>
          <a:prstGeom prst="rect">
            <a:avLst/>
          </a:prstGeom>
          <a:noFill/>
        </p:spPr>
        <p:txBody>
          <a:bodyPr wrap="none" lIns="0" tIns="0" rIns="0" bIns="0" rtlCol="0" anchor="t"/>
          <a:lstStyle/>
          <a:p>
            <a:pPr marL="0" indent="0" algn="l">
              <a:lnSpc>
                <a:spcPts val="2150"/>
              </a:lnSpc>
              <a:buNone/>
            </a:pPr>
            <a:r>
              <a:rPr lang="en-US" sz="1450" dirty="0">
                <a:solidFill>
                  <a:srgbClr val="D6E5EF"/>
                </a:solidFill>
                <a:latin typeface="Roboto" panose="02000000000000000000" pitchFamily="34" charset="0"/>
                <a:ea typeface="Roboto" panose="02000000000000000000" pitchFamily="34" charset="-122"/>
                <a:cs typeface="Roboto" panose="02000000000000000000" pitchFamily="34" charset="-120"/>
              </a:rPr>
              <a:t>Интегрировать нейросеть Llama-3 для анализа текста задач.</a:t>
            </a:r>
            <a:endParaRPr lang="en-US" sz="1450" dirty="0"/>
          </a:p>
        </p:txBody>
      </p:sp>
      <p:sp>
        <p:nvSpPr>
          <p:cNvPr id="13" name="Shape 11"/>
          <p:cNvSpPr/>
          <p:nvPr/>
        </p:nvSpPr>
        <p:spPr>
          <a:xfrm>
            <a:off x="834628" y="4000262"/>
            <a:ext cx="12961025" cy="1127046"/>
          </a:xfrm>
          <a:prstGeom prst="roundRect">
            <a:avLst>
              <a:gd name="adj" fmla="val 2500"/>
            </a:avLst>
          </a:prstGeom>
          <a:solidFill>
            <a:srgbClr val="202733"/>
          </a:solidFill>
          <a:ln w="22860">
            <a:solidFill>
              <a:srgbClr val="585F6B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857488" y="4023122"/>
            <a:ext cx="751284" cy="1081326"/>
          </a:xfrm>
          <a:prstGeom prst="roundRect">
            <a:avLst>
              <a:gd name="adj" fmla="val 99"/>
            </a:avLst>
          </a:prstGeom>
          <a:solidFill>
            <a:srgbClr val="3F4652"/>
          </a:solidFill>
        </p:spPr>
      </p:sp>
      <p:sp>
        <p:nvSpPr>
          <p:cNvPr id="15" name="Text 13"/>
          <p:cNvSpPr/>
          <p:nvPr/>
        </p:nvSpPr>
        <p:spPr>
          <a:xfrm>
            <a:off x="1092279" y="4387691"/>
            <a:ext cx="281702" cy="352187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ctr">
              <a:lnSpc>
                <a:spcPts val="2200"/>
              </a:lnSpc>
              <a:buNone/>
            </a:pPr>
            <a:r>
              <a:rPr lang="en-US" sz="2200" dirty="0">
                <a:solidFill>
                  <a:srgbClr val="D6E5EF"/>
                </a:solidFill>
                <a:latin typeface="Roboto Slab" pitchFamily="34" charset="0"/>
                <a:ea typeface="Roboto Slab" pitchFamily="34" charset="-122"/>
                <a:cs typeface="Roboto Slab" pitchFamily="34" charset="-120"/>
              </a:rPr>
              <a:t>3</a:t>
            </a:r>
            <a:endParaRPr lang="en-US" sz="2200" dirty="0"/>
          </a:p>
        </p:txBody>
      </p:sp>
      <p:sp>
        <p:nvSpPr>
          <p:cNvPr id="16" name="Text 14"/>
          <p:cNvSpPr/>
          <p:nvPr/>
        </p:nvSpPr>
        <p:spPr>
          <a:xfrm>
            <a:off x="1764268" y="4210883"/>
            <a:ext cx="2347912" cy="293489"/>
          </a:xfrm>
          <a:prstGeom prst="rect">
            <a:avLst/>
          </a:prstGeom>
          <a:noFill/>
        </p:spPr>
        <p:txBody>
          <a:bodyPr wrap="none" lIns="0" tIns="0" rIns="0" bIns="0" rtlCol="0" anchor="t"/>
          <a:lstStyle/>
          <a:p>
            <a:pPr marL="0" indent="0" algn="l">
              <a:lnSpc>
                <a:spcPts val="2300"/>
              </a:lnSpc>
              <a:buNone/>
            </a:pPr>
            <a:r>
              <a:rPr lang="en-US" sz="1800" dirty="0">
                <a:solidFill>
                  <a:srgbClr val="D6E5EF"/>
                </a:solidFill>
                <a:latin typeface="Roboto Slab" pitchFamily="34" charset="0"/>
                <a:ea typeface="Roboto Slab" pitchFamily="34" charset="-122"/>
                <a:cs typeface="Roboto Slab" pitchFamily="34" charset="-120"/>
              </a:rPr>
              <a:t>Алгоритм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764268" y="4597598"/>
            <a:ext cx="11820763" cy="274677"/>
          </a:xfrm>
          <a:prstGeom prst="rect">
            <a:avLst/>
          </a:prstGeom>
          <a:noFill/>
        </p:spPr>
        <p:txBody>
          <a:bodyPr wrap="none" lIns="0" tIns="0" rIns="0" bIns="0" rtlCol="0" anchor="t"/>
          <a:lstStyle/>
          <a:p>
            <a:pPr marL="0" indent="0" algn="l">
              <a:lnSpc>
                <a:spcPts val="2150"/>
              </a:lnSpc>
              <a:buNone/>
            </a:pPr>
            <a:r>
              <a:rPr lang="en-US" sz="1450" dirty="0">
                <a:solidFill>
                  <a:srgbClr val="D6E5EF"/>
                </a:solidFill>
                <a:latin typeface="Roboto" panose="02000000000000000000" pitchFamily="34" charset="0"/>
                <a:ea typeface="Roboto" panose="02000000000000000000" pitchFamily="34" charset="-122"/>
                <a:cs typeface="Roboto" panose="02000000000000000000" pitchFamily="34" charset="-120"/>
              </a:rPr>
              <a:t>Разработать алгоритм автоматического планирования дня.</a:t>
            </a:r>
            <a:endParaRPr lang="en-US" sz="1450" dirty="0"/>
          </a:p>
        </p:txBody>
      </p:sp>
      <p:sp>
        <p:nvSpPr>
          <p:cNvPr id="18" name="Shape 16"/>
          <p:cNvSpPr/>
          <p:nvPr/>
        </p:nvSpPr>
        <p:spPr>
          <a:xfrm>
            <a:off x="834628" y="5282803"/>
            <a:ext cx="12961025" cy="1127046"/>
          </a:xfrm>
          <a:prstGeom prst="roundRect">
            <a:avLst>
              <a:gd name="adj" fmla="val 2500"/>
            </a:avLst>
          </a:prstGeom>
          <a:solidFill>
            <a:srgbClr val="202733"/>
          </a:solidFill>
          <a:ln w="22860">
            <a:solidFill>
              <a:srgbClr val="585F6B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857488" y="5305663"/>
            <a:ext cx="751284" cy="1081326"/>
          </a:xfrm>
          <a:prstGeom prst="roundRect">
            <a:avLst>
              <a:gd name="adj" fmla="val 99"/>
            </a:avLst>
          </a:prstGeom>
          <a:solidFill>
            <a:srgbClr val="3F4652"/>
          </a:solidFill>
        </p:spPr>
      </p:sp>
      <p:sp>
        <p:nvSpPr>
          <p:cNvPr id="20" name="Text 18"/>
          <p:cNvSpPr/>
          <p:nvPr/>
        </p:nvSpPr>
        <p:spPr>
          <a:xfrm>
            <a:off x="1092279" y="5670233"/>
            <a:ext cx="281702" cy="352187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ctr">
              <a:lnSpc>
                <a:spcPts val="2200"/>
              </a:lnSpc>
              <a:buNone/>
            </a:pPr>
            <a:r>
              <a:rPr lang="en-US" sz="2200" dirty="0">
                <a:solidFill>
                  <a:srgbClr val="D6E5EF"/>
                </a:solidFill>
                <a:latin typeface="Roboto Slab" pitchFamily="34" charset="0"/>
                <a:ea typeface="Roboto Slab" pitchFamily="34" charset="-122"/>
                <a:cs typeface="Roboto Slab" pitchFamily="34" charset="-120"/>
              </a:rPr>
              <a:t>4</a:t>
            </a:r>
            <a:endParaRPr lang="en-US" sz="2200" dirty="0"/>
          </a:p>
        </p:txBody>
      </p:sp>
      <p:sp>
        <p:nvSpPr>
          <p:cNvPr id="21" name="Text 19"/>
          <p:cNvSpPr/>
          <p:nvPr/>
        </p:nvSpPr>
        <p:spPr>
          <a:xfrm>
            <a:off x="1764268" y="5493425"/>
            <a:ext cx="2347912" cy="293489"/>
          </a:xfrm>
          <a:prstGeom prst="rect">
            <a:avLst/>
          </a:prstGeom>
          <a:noFill/>
        </p:spPr>
        <p:txBody>
          <a:bodyPr wrap="none" lIns="0" tIns="0" rIns="0" bIns="0" rtlCol="0" anchor="t"/>
          <a:lstStyle/>
          <a:p>
            <a:pPr marL="0" indent="0" algn="l">
              <a:lnSpc>
                <a:spcPts val="2300"/>
              </a:lnSpc>
              <a:buNone/>
            </a:pPr>
            <a:r>
              <a:rPr lang="en-US" sz="1800" dirty="0">
                <a:solidFill>
                  <a:srgbClr val="D6E5EF"/>
                </a:solidFill>
                <a:latin typeface="Roboto Slab" pitchFamily="34" charset="0"/>
                <a:ea typeface="Roboto Slab" pitchFamily="34" charset="-122"/>
                <a:cs typeface="Roboto Slab" pitchFamily="34" charset="-120"/>
              </a:rPr>
              <a:t>База данных</a:t>
            </a:r>
            <a:endParaRPr lang="en-US" sz="1800" dirty="0"/>
          </a:p>
        </p:txBody>
      </p:sp>
      <p:sp>
        <p:nvSpPr>
          <p:cNvPr id="22" name="Text 20"/>
          <p:cNvSpPr/>
          <p:nvPr/>
        </p:nvSpPr>
        <p:spPr>
          <a:xfrm>
            <a:off x="1764268" y="5880140"/>
            <a:ext cx="11820763" cy="274677"/>
          </a:xfrm>
          <a:prstGeom prst="rect">
            <a:avLst/>
          </a:prstGeom>
          <a:noFill/>
        </p:spPr>
        <p:txBody>
          <a:bodyPr wrap="none" lIns="0" tIns="0" rIns="0" bIns="0" rtlCol="0" anchor="t"/>
          <a:lstStyle/>
          <a:p>
            <a:pPr marL="0" indent="0" algn="l">
              <a:lnSpc>
                <a:spcPts val="2150"/>
              </a:lnSpc>
              <a:buNone/>
            </a:pPr>
            <a:r>
              <a:rPr lang="en-US" sz="1450" dirty="0">
                <a:solidFill>
                  <a:srgbClr val="D6E5EF"/>
                </a:solidFill>
                <a:latin typeface="Roboto" panose="02000000000000000000" pitchFamily="34" charset="0"/>
                <a:ea typeface="Roboto" panose="02000000000000000000" pitchFamily="34" charset="-122"/>
                <a:cs typeface="Roboto" panose="02000000000000000000" pitchFamily="34" charset="-120"/>
              </a:rPr>
              <a:t>Создать БД для хранения задач и прикреплённых файлов.</a:t>
            </a:r>
            <a:endParaRPr lang="en-US" sz="1450" dirty="0"/>
          </a:p>
        </p:txBody>
      </p:sp>
      <p:sp>
        <p:nvSpPr>
          <p:cNvPr id="23" name="Shape 21"/>
          <p:cNvSpPr/>
          <p:nvPr/>
        </p:nvSpPr>
        <p:spPr>
          <a:xfrm>
            <a:off x="834628" y="6565344"/>
            <a:ext cx="12961025" cy="1127046"/>
          </a:xfrm>
          <a:prstGeom prst="roundRect">
            <a:avLst>
              <a:gd name="adj" fmla="val 2500"/>
            </a:avLst>
          </a:prstGeom>
          <a:solidFill>
            <a:srgbClr val="202733"/>
          </a:solidFill>
          <a:ln w="22860">
            <a:solidFill>
              <a:srgbClr val="585F6B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857488" y="6588204"/>
            <a:ext cx="751284" cy="1081326"/>
          </a:xfrm>
          <a:prstGeom prst="roundRect">
            <a:avLst>
              <a:gd name="adj" fmla="val 99"/>
            </a:avLst>
          </a:prstGeom>
          <a:solidFill>
            <a:srgbClr val="3F4652"/>
          </a:solidFill>
        </p:spPr>
      </p:sp>
      <p:sp>
        <p:nvSpPr>
          <p:cNvPr id="25" name="Text 23"/>
          <p:cNvSpPr/>
          <p:nvPr/>
        </p:nvSpPr>
        <p:spPr>
          <a:xfrm>
            <a:off x="1092279" y="6952774"/>
            <a:ext cx="281702" cy="352187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ctr">
              <a:lnSpc>
                <a:spcPts val="2200"/>
              </a:lnSpc>
              <a:buNone/>
            </a:pPr>
            <a:r>
              <a:rPr lang="en-US" sz="2200" dirty="0">
                <a:solidFill>
                  <a:srgbClr val="D6E5EF"/>
                </a:solidFill>
                <a:latin typeface="Roboto Slab" pitchFamily="34" charset="0"/>
                <a:ea typeface="Roboto Slab" pitchFamily="34" charset="-122"/>
                <a:cs typeface="Roboto Slab" pitchFamily="34" charset="-120"/>
              </a:rPr>
              <a:t>5</a:t>
            </a:r>
            <a:endParaRPr lang="en-US" sz="2200" dirty="0"/>
          </a:p>
        </p:txBody>
      </p:sp>
      <p:sp>
        <p:nvSpPr>
          <p:cNvPr id="26" name="Text 24"/>
          <p:cNvSpPr/>
          <p:nvPr/>
        </p:nvSpPr>
        <p:spPr>
          <a:xfrm>
            <a:off x="1764268" y="6775966"/>
            <a:ext cx="2347912" cy="293489"/>
          </a:xfrm>
          <a:prstGeom prst="rect">
            <a:avLst/>
          </a:prstGeom>
          <a:noFill/>
        </p:spPr>
        <p:txBody>
          <a:bodyPr wrap="none" lIns="0" tIns="0" rIns="0" bIns="0" rtlCol="0" anchor="t"/>
          <a:lstStyle/>
          <a:p>
            <a:pPr marL="0" indent="0" algn="l">
              <a:lnSpc>
                <a:spcPts val="2300"/>
              </a:lnSpc>
              <a:buNone/>
            </a:pPr>
            <a:r>
              <a:rPr lang="en-US" sz="1800" dirty="0">
                <a:solidFill>
                  <a:srgbClr val="D6E5EF"/>
                </a:solidFill>
                <a:latin typeface="Roboto Slab" pitchFamily="34" charset="0"/>
                <a:ea typeface="Roboto Slab" pitchFamily="34" charset="-122"/>
                <a:cs typeface="Roboto Slab" pitchFamily="34" charset="-120"/>
              </a:rPr>
              <a:t>Интерфейс</a:t>
            </a:r>
            <a:endParaRPr lang="en-US" sz="1800" dirty="0"/>
          </a:p>
        </p:txBody>
      </p:sp>
      <p:sp>
        <p:nvSpPr>
          <p:cNvPr id="27" name="Text 25"/>
          <p:cNvSpPr/>
          <p:nvPr/>
        </p:nvSpPr>
        <p:spPr>
          <a:xfrm>
            <a:off x="1764268" y="7162681"/>
            <a:ext cx="11820763" cy="274677"/>
          </a:xfrm>
          <a:prstGeom prst="rect">
            <a:avLst/>
          </a:prstGeom>
          <a:noFill/>
        </p:spPr>
        <p:txBody>
          <a:bodyPr wrap="none" lIns="0" tIns="0" rIns="0" bIns="0" rtlCol="0" anchor="t"/>
          <a:lstStyle/>
          <a:p>
            <a:pPr marL="0" indent="0" algn="l">
              <a:lnSpc>
                <a:spcPts val="2150"/>
              </a:lnSpc>
              <a:buNone/>
            </a:pPr>
            <a:r>
              <a:rPr lang="en-US" sz="1450" dirty="0">
                <a:solidFill>
                  <a:srgbClr val="D6E5EF"/>
                </a:solidFill>
                <a:latin typeface="Roboto" panose="02000000000000000000" pitchFamily="34" charset="0"/>
                <a:ea typeface="Roboto" panose="02000000000000000000" pitchFamily="34" charset="-122"/>
                <a:cs typeface="Roboto" panose="02000000000000000000" pitchFamily="34" charset="-120"/>
              </a:rPr>
              <a:t>Спроектировать адаптивный интерфейс для ПК и телефона.</a:t>
            </a:r>
            <a:endParaRPr lang="en-US" sz="14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06993" y="561142"/>
            <a:ext cx="6698932" cy="631269"/>
          </a:xfrm>
          <a:prstGeom prst="rect">
            <a:avLst/>
          </a:prstGeom>
          <a:noFill/>
        </p:spPr>
        <p:txBody>
          <a:bodyPr wrap="none" lIns="0" tIns="0" rIns="0" bIns="0" rtlCol="0" anchor="t"/>
          <a:lstStyle/>
          <a:p>
            <a:pPr marL="0" indent="0" algn="l">
              <a:lnSpc>
                <a:spcPts val="4950"/>
              </a:lnSpc>
              <a:buNone/>
            </a:pPr>
            <a:r>
              <a:rPr lang="en-US" sz="3950" dirty="0">
                <a:solidFill>
                  <a:srgbClr val="76B9FF"/>
                </a:solidFill>
                <a:latin typeface="Roboto Slab" pitchFamily="34" charset="0"/>
                <a:ea typeface="Roboto Slab" pitchFamily="34" charset="-122"/>
                <a:cs typeface="Roboto Slab" pitchFamily="34" charset="-120"/>
              </a:rPr>
              <a:t>Инструменты разработки</a:t>
            </a:r>
            <a:endParaRPr lang="en-US" sz="3950" dirty="0"/>
          </a:p>
        </p:txBody>
      </p:sp>
      <p:sp>
        <p:nvSpPr>
          <p:cNvPr id="3" name="Shape 1"/>
          <p:cNvSpPr/>
          <p:nvPr/>
        </p:nvSpPr>
        <p:spPr>
          <a:xfrm>
            <a:off x="706993" y="1552218"/>
            <a:ext cx="6518196" cy="1918811"/>
          </a:xfrm>
          <a:prstGeom prst="roundRect">
            <a:avLst>
              <a:gd name="adj" fmla="val 1579"/>
            </a:avLst>
          </a:prstGeom>
          <a:solidFill>
            <a:srgbClr val="3F4652"/>
          </a:solidFill>
        </p:spPr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08923" y="1754148"/>
            <a:ext cx="606028" cy="606028"/>
          </a:xfrm>
          <a:prstGeom prst="rect">
            <a:avLst/>
          </a:prstGeom>
        </p:spPr>
      </p:pic>
      <p:pic>
        <p:nvPicPr>
          <p:cNvPr id="5" name="Image 1" descr="preencoded.png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75611" y="1920716"/>
            <a:ext cx="272653" cy="272653"/>
          </a:xfrm>
          <a:prstGeom prst="rect">
            <a:avLst/>
          </a:prstGeom>
        </p:spPr>
      </p:pic>
      <p:sp>
        <p:nvSpPr>
          <p:cNvPr id="6" name="Text 2"/>
          <p:cNvSpPr/>
          <p:nvPr/>
        </p:nvSpPr>
        <p:spPr>
          <a:xfrm>
            <a:off x="908923" y="2540079"/>
            <a:ext cx="2525197" cy="315635"/>
          </a:xfrm>
          <a:prstGeom prst="rect">
            <a:avLst/>
          </a:prstGeom>
          <a:noFill/>
        </p:spPr>
        <p:txBody>
          <a:bodyPr wrap="none" lIns="0" tIns="0" rIns="0" bIns="0" rtlCol="0" anchor="t"/>
          <a:lstStyle/>
          <a:p>
            <a:pPr marL="0" indent="0" algn="l">
              <a:lnSpc>
                <a:spcPts val="2450"/>
              </a:lnSpc>
              <a:buNone/>
            </a:pPr>
            <a:r>
              <a:rPr lang="en-US" sz="1950" dirty="0">
                <a:solidFill>
                  <a:srgbClr val="D6E5EF"/>
                </a:solidFill>
                <a:latin typeface="Roboto Slab" pitchFamily="34" charset="0"/>
                <a:ea typeface="Roboto Slab" pitchFamily="34" charset="-122"/>
                <a:cs typeface="Roboto Slab" pitchFamily="34" charset="-120"/>
              </a:rPr>
              <a:t>Python 3.12</a:t>
            </a:r>
            <a:endParaRPr lang="en-US" sz="1950" dirty="0"/>
          </a:p>
        </p:txBody>
      </p:sp>
      <p:sp>
        <p:nvSpPr>
          <p:cNvPr id="7" name="Text 3"/>
          <p:cNvSpPr/>
          <p:nvPr/>
        </p:nvSpPr>
        <p:spPr>
          <a:xfrm>
            <a:off x="908923" y="2963585"/>
            <a:ext cx="6114336" cy="305514"/>
          </a:xfrm>
          <a:prstGeom prst="rect">
            <a:avLst/>
          </a:prstGeom>
          <a:noFill/>
        </p:spPr>
        <p:txBody>
          <a:bodyPr wrap="none" lIns="0" tIns="0" rIns="0" bIns="0" rtlCol="0" anchor="t"/>
          <a:lstStyle/>
          <a:p>
            <a:pPr marL="0" indent="0" algn="l">
              <a:lnSpc>
                <a:spcPts val="2400"/>
              </a:lnSpc>
              <a:buNone/>
            </a:pPr>
            <a:r>
              <a:rPr lang="en-US" sz="1550" dirty="0">
                <a:solidFill>
                  <a:srgbClr val="D6E5EF"/>
                </a:solidFill>
                <a:latin typeface="Roboto" panose="02000000000000000000" pitchFamily="34" charset="0"/>
                <a:ea typeface="Roboto" panose="02000000000000000000" pitchFamily="34" charset="-122"/>
                <a:cs typeface="Roboto" panose="02000000000000000000" pitchFamily="34" charset="-120"/>
              </a:rPr>
              <a:t>Основной язык программирования</a:t>
            </a:r>
            <a:endParaRPr lang="en-US" sz="1550" dirty="0"/>
          </a:p>
        </p:txBody>
      </p:sp>
      <p:sp>
        <p:nvSpPr>
          <p:cNvPr id="8" name="Shape 4"/>
          <p:cNvSpPr/>
          <p:nvPr/>
        </p:nvSpPr>
        <p:spPr>
          <a:xfrm>
            <a:off x="7405092" y="1552218"/>
            <a:ext cx="6518315" cy="1918811"/>
          </a:xfrm>
          <a:prstGeom prst="roundRect">
            <a:avLst>
              <a:gd name="adj" fmla="val 1579"/>
            </a:avLst>
          </a:prstGeom>
          <a:solidFill>
            <a:srgbClr val="3F4652"/>
          </a:solidFill>
        </p:spPr>
      </p:sp>
      <p:pic>
        <p:nvPicPr>
          <p:cNvPr id="9" name="Image 2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07022" y="1754148"/>
            <a:ext cx="606028" cy="606028"/>
          </a:xfrm>
          <a:prstGeom prst="rect">
            <a:avLst/>
          </a:prstGeom>
        </p:spPr>
      </p:pic>
      <p:pic>
        <p:nvPicPr>
          <p:cNvPr id="10" name="Image 3" descr="preencoded.png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7773710" y="1920716"/>
            <a:ext cx="272653" cy="272653"/>
          </a:xfrm>
          <a:prstGeom prst="rect">
            <a:avLst/>
          </a:prstGeom>
        </p:spPr>
      </p:pic>
      <p:sp>
        <p:nvSpPr>
          <p:cNvPr id="11" name="Text 5"/>
          <p:cNvSpPr/>
          <p:nvPr/>
        </p:nvSpPr>
        <p:spPr>
          <a:xfrm>
            <a:off x="7607022" y="2540079"/>
            <a:ext cx="2525197" cy="315635"/>
          </a:xfrm>
          <a:prstGeom prst="rect">
            <a:avLst/>
          </a:prstGeom>
          <a:noFill/>
        </p:spPr>
        <p:txBody>
          <a:bodyPr wrap="none" lIns="0" tIns="0" rIns="0" bIns="0" rtlCol="0" anchor="t"/>
          <a:lstStyle/>
          <a:p>
            <a:pPr marL="0" indent="0" algn="l">
              <a:lnSpc>
                <a:spcPts val="2450"/>
              </a:lnSpc>
              <a:buNone/>
            </a:pPr>
            <a:r>
              <a:rPr lang="en-US" sz="1950" dirty="0">
                <a:solidFill>
                  <a:srgbClr val="D6E5EF"/>
                </a:solidFill>
                <a:latin typeface="Roboto Slab" pitchFamily="34" charset="0"/>
                <a:ea typeface="Roboto Slab" pitchFamily="34" charset="-122"/>
                <a:cs typeface="Roboto Slab" pitchFamily="34" charset="-120"/>
              </a:rPr>
              <a:t>Flask</a:t>
            </a:r>
            <a:endParaRPr lang="en-US" sz="1950" dirty="0"/>
          </a:p>
        </p:txBody>
      </p:sp>
      <p:sp>
        <p:nvSpPr>
          <p:cNvPr id="12" name="Text 6"/>
          <p:cNvSpPr/>
          <p:nvPr/>
        </p:nvSpPr>
        <p:spPr>
          <a:xfrm>
            <a:off x="7607022" y="2963585"/>
            <a:ext cx="6114455" cy="305514"/>
          </a:xfrm>
          <a:prstGeom prst="rect">
            <a:avLst/>
          </a:prstGeom>
          <a:noFill/>
        </p:spPr>
        <p:txBody>
          <a:bodyPr wrap="none" lIns="0" tIns="0" rIns="0" bIns="0" rtlCol="0" anchor="t"/>
          <a:lstStyle/>
          <a:p>
            <a:pPr marL="0" indent="0" algn="l">
              <a:lnSpc>
                <a:spcPts val="2400"/>
              </a:lnSpc>
              <a:buNone/>
            </a:pPr>
            <a:r>
              <a:rPr lang="en-US" sz="1550" dirty="0">
                <a:solidFill>
                  <a:srgbClr val="D6E5EF"/>
                </a:solidFill>
                <a:latin typeface="Roboto" panose="02000000000000000000" pitchFamily="34" charset="0"/>
                <a:ea typeface="Roboto" panose="02000000000000000000" pitchFamily="34" charset="-122"/>
                <a:cs typeface="Roboto" panose="02000000000000000000" pitchFamily="34" charset="-120"/>
              </a:rPr>
              <a:t>Веб-фреймворк (Backend)</a:t>
            </a:r>
            <a:endParaRPr lang="en-US" sz="1550" dirty="0"/>
          </a:p>
        </p:txBody>
      </p:sp>
      <p:sp>
        <p:nvSpPr>
          <p:cNvPr id="13" name="Shape 7"/>
          <p:cNvSpPr/>
          <p:nvPr/>
        </p:nvSpPr>
        <p:spPr>
          <a:xfrm>
            <a:off x="706993" y="3650933"/>
            <a:ext cx="6518196" cy="1918811"/>
          </a:xfrm>
          <a:prstGeom prst="roundRect">
            <a:avLst>
              <a:gd name="adj" fmla="val 1579"/>
            </a:avLst>
          </a:prstGeom>
          <a:solidFill>
            <a:srgbClr val="3F4652"/>
          </a:solidFill>
        </p:spPr>
      </p:sp>
      <p:pic>
        <p:nvPicPr>
          <p:cNvPr id="14" name="Image 4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08923" y="3852863"/>
            <a:ext cx="606028" cy="606028"/>
          </a:xfrm>
          <a:prstGeom prst="rect">
            <a:avLst/>
          </a:prstGeom>
        </p:spPr>
      </p:pic>
      <p:pic>
        <p:nvPicPr>
          <p:cNvPr id="15" name="Image 5" descr="preencoded.png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1075611" y="4019431"/>
            <a:ext cx="272653" cy="272653"/>
          </a:xfrm>
          <a:prstGeom prst="rect">
            <a:avLst/>
          </a:prstGeom>
        </p:spPr>
      </p:pic>
      <p:sp>
        <p:nvSpPr>
          <p:cNvPr id="16" name="Text 8"/>
          <p:cNvSpPr/>
          <p:nvPr/>
        </p:nvSpPr>
        <p:spPr>
          <a:xfrm>
            <a:off x="908923" y="4638794"/>
            <a:ext cx="2567702" cy="315635"/>
          </a:xfrm>
          <a:prstGeom prst="rect">
            <a:avLst/>
          </a:prstGeom>
          <a:noFill/>
        </p:spPr>
        <p:txBody>
          <a:bodyPr wrap="none" lIns="0" tIns="0" rIns="0" bIns="0" rtlCol="0" anchor="t"/>
          <a:lstStyle/>
          <a:p>
            <a:pPr marL="0" indent="0" algn="l">
              <a:lnSpc>
                <a:spcPts val="2450"/>
              </a:lnSpc>
              <a:buNone/>
            </a:pPr>
            <a:r>
              <a:rPr lang="en-US" sz="1950" dirty="0">
                <a:solidFill>
                  <a:srgbClr val="D6E5EF"/>
                </a:solidFill>
                <a:latin typeface="Roboto Slab" pitchFamily="34" charset="0"/>
                <a:ea typeface="Roboto Slab" pitchFamily="34" charset="-122"/>
                <a:cs typeface="Roboto Slab" pitchFamily="34" charset="-120"/>
              </a:rPr>
              <a:t>SQLite + SQLAlchemy</a:t>
            </a:r>
            <a:endParaRPr lang="en-US" sz="1950" dirty="0"/>
          </a:p>
        </p:txBody>
      </p:sp>
      <p:sp>
        <p:nvSpPr>
          <p:cNvPr id="17" name="Text 9"/>
          <p:cNvSpPr/>
          <p:nvPr/>
        </p:nvSpPr>
        <p:spPr>
          <a:xfrm>
            <a:off x="908923" y="5062299"/>
            <a:ext cx="6114336" cy="305514"/>
          </a:xfrm>
          <a:prstGeom prst="rect">
            <a:avLst/>
          </a:prstGeom>
          <a:noFill/>
        </p:spPr>
        <p:txBody>
          <a:bodyPr wrap="none" lIns="0" tIns="0" rIns="0" bIns="0" rtlCol="0" anchor="t"/>
          <a:lstStyle/>
          <a:p>
            <a:pPr marL="0" indent="0" algn="l">
              <a:lnSpc>
                <a:spcPts val="2400"/>
              </a:lnSpc>
              <a:buNone/>
            </a:pPr>
            <a:r>
              <a:rPr lang="en-US" sz="1550" dirty="0">
                <a:solidFill>
                  <a:srgbClr val="D6E5EF"/>
                </a:solidFill>
                <a:latin typeface="Roboto" panose="02000000000000000000" pitchFamily="34" charset="0"/>
                <a:ea typeface="Roboto" panose="02000000000000000000" pitchFamily="34" charset="-122"/>
                <a:cs typeface="Roboto" panose="02000000000000000000" pitchFamily="34" charset="-120"/>
              </a:rPr>
              <a:t>База данных и ORM</a:t>
            </a:r>
            <a:endParaRPr lang="en-US" sz="1550" dirty="0"/>
          </a:p>
        </p:txBody>
      </p:sp>
      <p:sp>
        <p:nvSpPr>
          <p:cNvPr id="18" name="Shape 10"/>
          <p:cNvSpPr/>
          <p:nvPr/>
        </p:nvSpPr>
        <p:spPr>
          <a:xfrm>
            <a:off x="7405092" y="3650933"/>
            <a:ext cx="6518315" cy="1918811"/>
          </a:xfrm>
          <a:prstGeom prst="roundRect">
            <a:avLst>
              <a:gd name="adj" fmla="val 1579"/>
            </a:avLst>
          </a:prstGeom>
          <a:solidFill>
            <a:srgbClr val="3F4652"/>
          </a:solidFill>
        </p:spPr>
      </p:sp>
      <p:pic>
        <p:nvPicPr>
          <p:cNvPr id="19" name="Image 6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607022" y="3852863"/>
            <a:ext cx="606028" cy="606028"/>
          </a:xfrm>
          <a:prstGeom prst="rect">
            <a:avLst/>
          </a:prstGeom>
        </p:spPr>
      </p:pic>
      <p:pic>
        <p:nvPicPr>
          <p:cNvPr id="20" name="Image 7" descr="preencoded.png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7773710" y="4019431"/>
            <a:ext cx="272653" cy="272653"/>
          </a:xfrm>
          <a:prstGeom prst="rect">
            <a:avLst/>
          </a:prstGeom>
        </p:spPr>
      </p:pic>
      <p:sp>
        <p:nvSpPr>
          <p:cNvPr id="21" name="Text 11"/>
          <p:cNvSpPr/>
          <p:nvPr/>
        </p:nvSpPr>
        <p:spPr>
          <a:xfrm>
            <a:off x="7607022" y="4638794"/>
            <a:ext cx="2525197" cy="315635"/>
          </a:xfrm>
          <a:prstGeom prst="rect">
            <a:avLst/>
          </a:prstGeom>
          <a:noFill/>
        </p:spPr>
        <p:txBody>
          <a:bodyPr wrap="none" lIns="0" tIns="0" rIns="0" bIns="0" rtlCol="0" anchor="t"/>
          <a:lstStyle/>
          <a:p>
            <a:pPr marL="0" indent="0" algn="l">
              <a:lnSpc>
                <a:spcPts val="2450"/>
              </a:lnSpc>
              <a:buNone/>
            </a:pPr>
            <a:r>
              <a:rPr lang="en-US" sz="1950" dirty="0">
                <a:solidFill>
                  <a:srgbClr val="D6E5EF"/>
                </a:solidFill>
                <a:latin typeface="Roboto Slab" pitchFamily="34" charset="0"/>
                <a:ea typeface="Roboto Slab" pitchFamily="34" charset="-122"/>
                <a:cs typeface="Roboto Slab" pitchFamily="34" charset="-120"/>
              </a:rPr>
              <a:t>Groq API / Llama-3.3</a:t>
            </a:r>
            <a:endParaRPr lang="en-US" sz="1950" dirty="0"/>
          </a:p>
        </p:txBody>
      </p:sp>
      <p:sp>
        <p:nvSpPr>
          <p:cNvPr id="22" name="Text 12"/>
          <p:cNvSpPr/>
          <p:nvPr/>
        </p:nvSpPr>
        <p:spPr>
          <a:xfrm>
            <a:off x="7607022" y="5062299"/>
            <a:ext cx="6114455" cy="305514"/>
          </a:xfrm>
          <a:prstGeom prst="rect">
            <a:avLst/>
          </a:prstGeom>
          <a:noFill/>
        </p:spPr>
        <p:txBody>
          <a:bodyPr wrap="none" lIns="0" tIns="0" rIns="0" bIns="0" rtlCol="0" anchor="t"/>
          <a:lstStyle/>
          <a:p>
            <a:pPr marL="0" indent="0" algn="l">
              <a:lnSpc>
                <a:spcPts val="2400"/>
              </a:lnSpc>
              <a:buNone/>
            </a:pPr>
            <a:r>
              <a:rPr lang="en-US" sz="1550" dirty="0">
                <a:solidFill>
                  <a:srgbClr val="D6E5EF"/>
                </a:solidFill>
                <a:latin typeface="Roboto" panose="02000000000000000000" pitchFamily="34" charset="0"/>
                <a:ea typeface="Roboto" panose="02000000000000000000" pitchFamily="34" charset="-122"/>
                <a:cs typeface="Roboto" panose="02000000000000000000" pitchFamily="34" charset="-120"/>
              </a:rPr>
              <a:t>Искусственный интеллект</a:t>
            </a:r>
            <a:endParaRPr lang="en-US" sz="1550" dirty="0"/>
          </a:p>
        </p:txBody>
      </p:sp>
      <p:sp>
        <p:nvSpPr>
          <p:cNvPr id="23" name="Shape 13"/>
          <p:cNvSpPr/>
          <p:nvPr/>
        </p:nvSpPr>
        <p:spPr>
          <a:xfrm>
            <a:off x="706993" y="5749647"/>
            <a:ext cx="6518196" cy="1918811"/>
          </a:xfrm>
          <a:prstGeom prst="roundRect">
            <a:avLst>
              <a:gd name="adj" fmla="val 1579"/>
            </a:avLst>
          </a:prstGeom>
          <a:solidFill>
            <a:srgbClr val="3F4652"/>
          </a:solidFill>
        </p:spPr>
      </p:sp>
      <p:pic>
        <p:nvPicPr>
          <p:cNvPr id="24" name="Image 8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908923" y="5951577"/>
            <a:ext cx="606028" cy="606028"/>
          </a:xfrm>
          <a:prstGeom prst="rect">
            <a:avLst/>
          </a:prstGeom>
        </p:spPr>
      </p:pic>
      <p:pic>
        <p:nvPicPr>
          <p:cNvPr id="25" name="Image 9" descr="preencoded.png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1075611" y="6118146"/>
            <a:ext cx="272653" cy="272653"/>
          </a:xfrm>
          <a:prstGeom prst="rect">
            <a:avLst/>
          </a:prstGeom>
        </p:spPr>
      </p:pic>
      <p:sp>
        <p:nvSpPr>
          <p:cNvPr id="26" name="Text 14"/>
          <p:cNvSpPr/>
          <p:nvPr/>
        </p:nvSpPr>
        <p:spPr>
          <a:xfrm>
            <a:off x="908923" y="6737509"/>
            <a:ext cx="2525197" cy="315635"/>
          </a:xfrm>
          <a:prstGeom prst="rect">
            <a:avLst/>
          </a:prstGeom>
          <a:noFill/>
        </p:spPr>
        <p:txBody>
          <a:bodyPr wrap="none" lIns="0" tIns="0" rIns="0" bIns="0" rtlCol="0" anchor="t"/>
          <a:lstStyle/>
          <a:p>
            <a:pPr marL="0" indent="0" algn="l">
              <a:lnSpc>
                <a:spcPts val="2450"/>
              </a:lnSpc>
              <a:buNone/>
            </a:pPr>
            <a:r>
              <a:rPr lang="en-US" sz="1950" dirty="0">
                <a:solidFill>
                  <a:srgbClr val="D6E5EF"/>
                </a:solidFill>
                <a:latin typeface="Roboto Slab" pitchFamily="34" charset="0"/>
                <a:ea typeface="Roboto Slab" pitchFamily="34" charset="-122"/>
                <a:cs typeface="Roboto Slab" pitchFamily="34" charset="-120"/>
              </a:rPr>
              <a:t>Bootstrap 5 + Jinja2</a:t>
            </a:r>
            <a:endParaRPr lang="en-US" sz="1950" dirty="0"/>
          </a:p>
        </p:txBody>
      </p:sp>
      <p:sp>
        <p:nvSpPr>
          <p:cNvPr id="27" name="Text 15"/>
          <p:cNvSpPr/>
          <p:nvPr/>
        </p:nvSpPr>
        <p:spPr>
          <a:xfrm>
            <a:off x="908923" y="7161014"/>
            <a:ext cx="6114336" cy="305514"/>
          </a:xfrm>
          <a:prstGeom prst="rect">
            <a:avLst/>
          </a:prstGeom>
          <a:noFill/>
        </p:spPr>
        <p:txBody>
          <a:bodyPr wrap="none" lIns="0" tIns="0" rIns="0" bIns="0" rtlCol="0" anchor="t"/>
          <a:lstStyle/>
          <a:p>
            <a:pPr marL="0" indent="0" algn="l">
              <a:lnSpc>
                <a:spcPts val="2400"/>
              </a:lnSpc>
              <a:buNone/>
            </a:pPr>
            <a:r>
              <a:rPr lang="en-US" sz="1550" dirty="0">
                <a:solidFill>
                  <a:srgbClr val="D6E5EF"/>
                </a:solidFill>
                <a:latin typeface="Roboto" panose="02000000000000000000" pitchFamily="34" charset="0"/>
                <a:ea typeface="Roboto" panose="02000000000000000000" pitchFamily="34" charset="-122"/>
                <a:cs typeface="Roboto" panose="02000000000000000000" pitchFamily="34" charset="-120"/>
              </a:rPr>
              <a:t>Фронтенд и шаблонизатор</a:t>
            </a:r>
            <a:endParaRPr lang="en-US" sz="1550" dirty="0"/>
          </a:p>
        </p:txBody>
      </p:sp>
      <p:sp>
        <p:nvSpPr>
          <p:cNvPr id="28" name="Shape 16"/>
          <p:cNvSpPr/>
          <p:nvPr/>
        </p:nvSpPr>
        <p:spPr>
          <a:xfrm>
            <a:off x="7405092" y="5749647"/>
            <a:ext cx="6518315" cy="1918811"/>
          </a:xfrm>
          <a:prstGeom prst="roundRect">
            <a:avLst>
              <a:gd name="adj" fmla="val 1579"/>
            </a:avLst>
          </a:prstGeom>
          <a:solidFill>
            <a:srgbClr val="3F4652"/>
          </a:solidFill>
        </p:spPr>
      </p:sp>
      <p:pic>
        <p:nvPicPr>
          <p:cNvPr id="29" name="Image 10" descr="preencoded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7607022" y="5951577"/>
            <a:ext cx="606028" cy="606028"/>
          </a:xfrm>
          <a:prstGeom prst="rect">
            <a:avLst/>
          </a:prstGeom>
        </p:spPr>
      </p:pic>
      <p:pic>
        <p:nvPicPr>
          <p:cNvPr id="30" name="Image 11" descr="preencoded.png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7773710" y="6118146"/>
            <a:ext cx="272653" cy="272653"/>
          </a:xfrm>
          <a:prstGeom prst="rect">
            <a:avLst/>
          </a:prstGeom>
        </p:spPr>
      </p:pic>
      <p:sp>
        <p:nvSpPr>
          <p:cNvPr id="31" name="Text 17"/>
          <p:cNvSpPr/>
          <p:nvPr/>
        </p:nvSpPr>
        <p:spPr>
          <a:xfrm>
            <a:off x="7607022" y="6737509"/>
            <a:ext cx="2525197" cy="315635"/>
          </a:xfrm>
          <a:prstGeom prst="rect">
            <a:avLst/>
          </a:prstGeom>
          <a:noFill/>
        </p:spPr>
        <p:txBody>
          <a:bodyPr wrap="none" lIns="0" tIns="0" rIns="0" bIns="0" rtlCol="0" anchor="t"/>
          <a:lstStyle/>
          <a:p>
            <a:pPr marL="0" indent="0" algn="l">
              <a:lnSpc>
                <a:spcPts val="2450"/>
              </a:lnSpc>
              <a:buNone/>
            </a:pPr>
            <a:r>
              <a:rPr lang="en-US" sz="1950" dirty="0">
                <a:solidFill>
                  <a:srgbClr val="D6E5EF"/>
                </a:solidFill>
                <a:latin typeface="Roboto Slab" pitchFamily="34" charset="0"/>
                <a:ea typeface="Roboto Slab" pitchFamily="34" charset="-122"/>
                <a:cs typeface="Roboto Slab" pitchFamily="34" charset="-120"/>
              </a:rPr>
              <a:t>PyCharm</a:t>
            </a:r>
            <a:endParaRPr lang="en-US" sz="1950" dirty="0"/>
          </a:p>
        </p:txBody>
      </p:sp>
      <p:sp>
        <p:nvSpPr>
          <p:cNvPr id="32" name="Text 18"/>
          <p:cNvSpPr/>
          <p:nvPr/>
        </p:nvSpPr>
        <p:spPr>
          <a:xfrm>
            <a:off x="7607022" y="7161014"/>
            <a:ext cx="6114455" cy="305514"/>
          </a:xfrm>
          <a:prstGeom prst="rect">
            <a:avLst/>
          </a:prstGeom>
          <a:noFill/>
        </p:spPr>
        <p:txBody>
          <a:bodyPr wrap="none" lIns="0" tIns="0" rIns="0" bIns="0" rtlCol="0" anchor="t"/>
          <a:lstStyle/>
          <a:p>
            <a:pPr marL="0" indent="0" algn="l">
              <a:lnSpc>
                <a:spcPts val="2400"/>
              </a:lnSpc>
              <a:buNone/>
            </a:pPr>
            <a:r>
              <a:rPr lang="en-US" sz="1550" dirty="0">
                <a:solidFill>
                  <a:srgbClr val="D6E5EF"/>
                </a:solidFill>
                <a:latin typeface="Roboto" panose="02000000000000000000" pitchFamily="34" charset="0"/>
                <a:ea typeface="Roboto" panose="02000000000000000000" pitchFamily="34" charset="-122"/>
                <a:cs typeface="Roboto" panose="02000000000000000000" pitchFamily="34" charset="-120"/>
              </a:rPr>
              <a:t>Среда разработки</a:t>
            </a:r>
            <a:endParaRPr lang="en-US" sz="15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00" y="0"/>
            <a:ext cx="5486400" cy="82296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82228" y="592693"/>
            <a:ext cx="5535097" cy="609124"/>
          </a:xfrm>
          <a:prstGeom prst="rect">
            <a:avLst/>
          </a:prstGeom>
          <a:noFill/>
        </p:spPr>
        <p:txBody>
          <a:bodyPr wrap="none" lIns="0" tIns="0" rIns="0" bIns="0" rtlCol="0" anchor="t"/>
          <a:lstStyle/>
          <a:p>
            <a:pPr marL="0" indent="0" algn="l">
              <a:lnSpc>
                <a:spcPts val="4750"/>
              </a:lnSpc>
              <a:buNone/>
            </a:pPr>
            <a:r>
              <a:rPr lang="en-US" sz="3800" dirty="0">
                <a:solidFill>
                  <a:srgbClr val="76B9FF"/>
                </a:solidFill>
                <a:latin typeface="Roboto Slab" pitchFamily="34" charset="0"/>
                <a:ea typeface="Roboto Slab" pitchFamily="34" charset="-122"/>
                <a:cs typeface="Roboto Slab" pitchFamily="34" charset="-120"/>
              </a:rPr>
              <a:t>Описание программы</a:t>
            </a:r>
            <a:endParaRPr lang="en-US" sz="3800" dirty="0"/>
          </a:p>
        </p:txBody>
      </p:sp>
      <p:sp>
        <p:nvSpPr>
          <p:cNvPr id="4" name="Shape 1"/>
          <p:cNvSpPr/>
          <p:nvPr/>
        </p:nvSpPr>
        <p:spPr>
          <a:xfrm>
            <a:off x="682228" y="1453039"/>
            <a:ext cx="7779544" cy="1420416"/>
          </a:xfrm>
          <a:prstGeom prst="roundRect">
            <a:avLst>
              <a:gd name="adj" fmla="val 7725"/>
            </a:avLst>
          </a:prstGeom>
          <a:solidFill>
            <a:srgbClr val="202733"/>
          </a:solidFill>
          <a:ln w="22860">
            <a:solidFill>
              <a:srgbClr val="585F6B"/>
            </a:solidFill>
            <a:prstDash val="solid"/>
          </a:ln>
        </p:spPr>
      </p:sp>
      <p:pic>
        <p:nvPicPr>
          <p:cNvPr id="5" name="Image 1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9368" y="1453039"/>
            <a:ext cx="91440" cy="1420416"/>
          </a:xfrm>
          <a:prstGeom prst="rect">
            <a:avLst/>
          </a:prstGeom>
        </p:spPr>
      </p:pic>
      <p:sp>
        <p:nvSpPr>
          <p:cNvPr id="6" name="Text 2"/>
          <p:cNvSpPr/>
          <p:nvPr/>
        </p:nvSpPr>
        <p:spPr>
          <a:xfrm>
            <a:off x="968573" y="1670804"/>
            <a:ext cx="3201829" cy="304562"/>
          </a:xfrm>
          <a:prstGeom prst="rect">
            <a:avLst/>
          </a:prstGeom>
          <a:noFill/>
        </p:spPr>
        <p:txBody>
          <a:bodyPr wrap="none" lIns="0" tIns="0" rIns="0" bIns="0" rtlCol="0" anchor="t"/>
          <a:lstStyle/>
          <a:p>
            <a:pPr marL="0" indent="0" algn="l">
              <a:lnSpc>
                <a:spcPts val="2350"/>
              </a:lnSpc>
              <a:buNone/>
            </a:pPr>
            <a:r>
              <a:rPr lang="en-US" sz="1900" dirty="0">
                <a:solidFill>
                  <a:srgbClr val="D6E5EF"/>
                </a:solidFill>
                <a:latin typeface="Roboto Slab" pitchFamily="34" charset="0"/>
                <a:ea typeface="Roboto Slab" pitchFamily="34" charset="-122"/>
                <a:cs typeface="Roboto Slab" pitchFamily="34" charset="-120"/>
              </a:rPr>
              <a:t>Fullstack веб-приложение</a:t>
            </a:r>
            <a:endParaRPr lang="en-US" sz="1900" dirty="0"/>
          </a:p>
        </p:txBody>
      </p:sp>
      <p:sp>
        <p:nvSpPr>
          <p:cNvPr id="7" name="Text 3"/>
          <p:cNvSpPr/>
          <p:nvPr/>
        </p:nvSpPr>
        <p:spPr>
          <a:xfrm>
            <a:off x="968573" y="2075855"/>
            <a:ext cx="7275433" cy="579834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ts val="2250"/>
              </a:lnSpc>
              <a:buNone/>
            </a:pPr>
            <a:r>
              <a:rPr lang="en-US" sz="1500" dirty="0">
                <a:solidFill>
                  <a:srgbClr val="D6E5EF"/>
                </a:solidFill>
                <a:latin typeface="Roboto" panose="02000000000000000000" pitchFamily="34" charset="0"/>
                <a:ea typeface="Roboto" panose="02000000000000000000" pitchFamily="34" charset="-122"/>
                <a:cs typeface="Roboto" panose="02000000000000000000" pitchFamily="34" charset="-120"/>
              </a:rPr>
              <a:t>TickTask — полноценное веб-приложение с серверной и клиентской частью, доступное с любого устройства.</a:t>
            </a:r>
            <a:endParaRPr lang="en-US" sz="1500" dirty="0"/>
          </a:p>
        </p:txBody>
      </p:sp>
      <p:sp>
        <p:nvSpPr>
          <p:cNvPr id="8" name="Shape 4"/>
          <p:cNvSpPr/>
          <p:nvPr/>
        </p:nvSpPr>
        <p:spPr>
          <a:xfrm>
            <a:off x="682228" y="3040856"/>
            <a:ext cx="7779544" cy="1420416"/>
          </a:xfrm>
          <a:prstGeom prst="roundRect">
            <a:avLst>
              <a:gd name="adj" fmla="val 7725"/>
            </a:avLst>
          </a:prstGeom>
          <a:solidFill>
            <a:srgbClr val="202733"/>
          </a:solidFill>
          <a:ln w="22860">
            <a:solidFill>
              <a:srgbClr val="585F6B"/>
            </a:solidFill>
            <a:prstDash val="solid"/>
          </a:ln>
        </p:spPr>
      </p:sp>
      <p:pic>
        <p:nvPicPr>
          <p:cNvPr id="9" name="Image 2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9368" y="3040856"/>
            <a:ext cx="91440" cy="1420416"/>
          </a:xfrm>
          <a:prstGeom prst="rect">
            <a:avLst/>
          </a:prstGeom>
        </p:spPr>
      </p:pic>
      <p:sp>
        <p:nvSpPr>
          <p:cNvPr id="10" name="Text 5"/>
          <p:cNvSpPr/>
          <p:nvPr/>
        </p:nvSpPr>
        <p:spPr>
          <a:xfrm>
            <a:off x="968573" y="3258622"/>
            <a:ext cx="2436614" cy="304562"/>
          </a:xfrm>
          <a:prstGeom prst="rect">
            <a:avLst/>
          </a:prstGeom>
          <a:noFill/>
        </p:spPr>
        <p:txBody>
          <a:bodyPr wrap="none" lIns="0" tIns="0" rIns="0" bIns="0" rtlCol="0" anchor="t"/>
          <a:lstStyle/>
          <a:p>
            <a:pPr marL="0" indent="0" algn="l">
              <a:lnSpc>
                <a:spcPts val="2350"/>
              </a:lnSpc>
              <a:buNone/>
            </a:pPr>
            <a:r>
              <a:rPr lang="en-US" sz="1900" dirty="0">
                <a:solidFill>
                  <a:srgbClr val="D6E5EF"/>
                </a:solidFill>
                <a:latin typeface="Roboto Slab" pitchFamily="34" charset="0"/>
                <a:ea typeface="Roboto Slab" pitchFamily="34" charset="-122"/>
                <a:cs typeface="Roboto Slab" pitchFamily="34" charset="-120"/>
              </a:rPr>
              <a:t>Умный ввод задач</a:t>
            </a:r>
            <a:endParaRPr lang="en-US" sz="1900" dirty="0"/>
          </a:p>
        </p:txBody>
      </p:sp>
      <p:sp>
        <p:nvSpPr>
          <p:cNvPr id="11" name="Text 6"/>
          <p:cNvSpPr/>
          <p:nvPr/>
        </p:nvSpPr>
        <p:spPr>
          <a:xfrm>
            <a:off x="968573" y="3663672"/>
            <a:ext cx="7275433" cy="579834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ts val="2250"/>
              </a:lnSpc>
              <a:buNone/>
            </a:pPr>
            <a:r>
              <a:rPr lang="en-US" sz="1500" dirty="0">
                <a:solidFill>
                  <a:srgbClr val="D6E5EF"/>
                </a:solidFill>
                <a:latin typeface="Roboto" panose="02000000000000000000" pitchFamily="34" charset="0"/>
                <a:ea typeface="Roboto" panose="02000000000000000000" pitchFamily="34" charset="-122"/>
                <a:cs typeface="Roboto" panose="02000000000000000000" pitchFamily="34" charset="-120"/>
              </a:rPr>
              <a:t>Пользователь вводит задачу одной фразой. Система «на лету» понимает контекст: отделяет работу от учёбы, понимает дедлайны и сложность.</a:t>
            </a:r>
            <a:endParaRPr lang="en-US" sz="1500" dirty="0"/>
          </a:p>
        </p:txBody>
      </p:sp>
      <p:sp>
        <p:nvSpPr>
          <p:cNvPr id="12" name="Shape 7"/>
          <p:cNvSpPr/>
          <p:nvPr/>
        </p:nvSpPr>
        <p:spPr>
          <a:xfrm>
            <a:off x="682228" y="4628674"/>
            <a:ext cx="7779544" cy="1420416"/>
          </a:xfrm>
          <a:prstGeom prst="roundRect">
            <a:avLst>
              <a:gd name="adj" fmla="val 7725"/>
            </a:avLst>
          </a:prstGeom>
          <a:solidFill>
            <a:srgbClr val="202733"/>
          </a:solidFill>
          <a:ln w="22860">
            <a:solidFill>
              <a:srgbClr val="585F6B"/>
            </a:solidFill>
            <a:prstDash val="solid"/>
          </a:ln>
        </p:spPr>
      </p:sp>
      <p:pic>
        <p:nvPicPr>
          <p:cNvPr id="13" name="Image 3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9368" y="4628674"/>
            <a:ext cx="91440" cy="1420416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968573" y="4846439"/>
            <a:ext cx="3244096" cy="304562"/>
          </a:xfrm>
          <a:prstGeom prst="rect">
            <a:avLst/>
          </a:prstGeom>
          <a:noFill/>
        </p:spPr>
        <p:txBody>
          <a:bodyPr wrap="none" lIns="0" tIns="0" rIns="0" bIns="0" rtlCol="0" anchor="t"/>
          <a:lstStyle/>
          <a:p>
            <a:pPr marL="0" indent="0" algn="l">
              <a:lnSpc>
                <a:spcPts val="2350"/>
              </a:lnSpc>
              <a:buNone/>
            </a:pPr>
            <a:r>
              <a:rPr lang="en-US" sz="1900" dirty="0">
                <a:solidFill>
                  <a:srgbClr val="D6E5EF"/>
                </a:solidFill>
                <a:latin typeface="Roboto Slab" pitchFamily="34" charset="0"/>
                <a:ea typeface="Roboto Slab" pitchFamily="34" charset="-122"/>
                <a:cs typeface="Roboto Slab" pitchFamily="34" charset="-120"/>
              </a:rPr>
              <a:t>Облачная синхронизация</a:t>
            </a:r>
            <a:endParaRPr lang="en-US" sz="1900" dirty="0"/>
          </a:p>
        </p:txBody>
      </p:sp>
      <p:sp>
        <p:nvSpPr>
          <p:cNvPr id="15" name="Text 9"/>
          <p:cNvSpPr/>
          <p:nvPr/>
        </p:nvSpPr>
        <p:spPr>
          <a:xfrm>
            <a:off x="968573" y="5251490"/>
            <a:ext cx="7275433" cy="579834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ts val="2250"/>
              </a:lnSpc>
              <a:buNone/>
            </a:pPr>
            <a:r>
              <a:rPr lang="en-US" sz="1500" dirty="0">
                <a:solidFill>
                  <a:srgbClr val="D6E5EF"/>
                </a:solidFill>
                <a:latin typeface="Roboto" panose="02000000000000000000" pitchFamily="34" charset="0"/>
                <a:ea typeface="Roboto" panose="02000000000000000000" pitchFamily="34" charset="-122"/>
                <a:cs typeface="Roboto" panose="02000000000000000000" pitchFamily="34" charset="-120"/>
              </a:rPr>
              <a:t>Все данные синхронизируются в облаке и доступны после авторизации с любого устройства.</a:t>
            </a:r>
            <a:endParaRPr lang="en-US" sz="1500" dirty="0"/>
          </a:p>
        </p:txBody>
      </p:sp>
      <p:sp>
        <p:nvSpPr>
          <p:cNvPr id="16" name="Shape 10"/>
          <p:cNvSpPr/>
          <p:nvPr/>
        </p:nvSpPr>
        <p:spPr>
          <a:xfrm>
            <a:off x="682228" y="6216491"/>
            <a:ext cx="7779544" cy="1420416"/>
          </a:xfrm>
          <a:prstGeom prst="roundRect">
            <a:avLst>
              <a:gd name="adj" fmla="val 7725"/>
            </a:avLst>
          </a:prstGeom>
          <a:solidFill>
            <a:srgbClr val="202733"/>
          </a:solidFill>
          <a:ln w="22860">
            <a:solidFill>
              <a:srgbClr val="585F6B"/>
            </a:solidFill>
            <a:prstDash val="solid"/>
          </a:ln>
        </p:spPr>
      </p:sp>
      <p:pic>
        <p:nvPicPr>
          <p:cNvPr id="17" name="Image 4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9368" y="6216491"/>
            <a:ext cx="91440" cy="1420416"/>
          </a:xfrm>
          <a:prstGeom prst="rect">
            <a:avLst/>
          </a:prstGeom>
        </p:spPr>
      </p:pic>
      <p:sp>
        <p:nvSpPr>
          <p:cNvPr id="18" name="Text 11"/>
          <p:cNvSpPr/>
          <p:nvPr/>
        </p:nvSpPr>
        <p:spPr>
          <a:xfrm>
            <a:off x="968573" y="6434257"/>
            <a:ext cx="3608546" cy="304562"/>
          </a:xfrm>
          <a:prstGeom prst="rect">
            <a:avLst/>
          </a:prstGeom>
          <a:noFill/>
        </p:spPr>
        <p:txBody>
          <a:bodyPr wrap="none" lIns="0" tIns="0" rIns="0" bIns="0" rtlCol="0" anchor="t"/>
          <a:lstStyle/>
          <a:p>
            <a:pPr marL="0" indent="0" algn="l">
              <a:lnSpc>
                <a:spcPts val="2350"/>
              </a:lnSpc>
              <a:buNone/>
            </a:pPr>
            <a:r>
              <a:rPr lang="en-US" sz="1900" dirty="0">
                <a:solidFill>
                  <a:srgbClr val="D6E5EF"/>
                </a:solidFill>
                <a:latin typeface="Roboto Slab" pitchFamily="34" charset="0"/>
                <a:ea typeface="Roboto Slab" pitchFamily="34" charset="-122"/>
                <a:cs typeface="Roboto Slab" pitchFamily="34" charset="-120"/>
              </a:rPr>
              <a:t>Статистика продуктивности</a:t>
            </a:r>
            <a:endParaRPr lang="en-US" sz="1900" dirty="0"/>
          </a:p>
        </p:txBody>
      </p:sp>
      <p:sp>
        <p:nvSpPr>
          <p:cNvPr id="19" name="Text 12"/>
          <p:cNvSpPr/>
          <p:nvPr/>
        </p:nvSpPr>
        <p:spPr>
          <a:xfrm>
            <a:off x="968573" y="6839307"/>
            <a:ext cx="7275433" cy="579834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ts val="2250"/>
              </a:lnSpc>
              <a:buNone/>
            </a:pPr>
            <a:r>
              <a:rPr lang="en-US" sz="1500" dirty="0">
                <a:solidFill>
                  <a:srgbClr val="D6E5EF"/>
                </a:solidFill>
                <a:latin typeface="Roboto" panose="02000000000000000000" pitchFamily="34" charset="0"/>
                <a:ea typeface="Roboto" panose="02000000000000000000" pitchFamily="34" charset="-122"/>
                <a:cs typeface="Roboto" panose="02000000000000000000" pitchFamily="34" charset="-120"/>
              </a:rPr>
              <a:t>Дополнительно реализована система статистики, позволяющая отслеживать эффективность работы.</a:t>
            </a:r>
            <a:endParaRPr lang="en-US" sz="15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56905" y="579358"/>
            <a:ext cx="4607362" cy="575905"/>
          </a:xfrm>
          <a:prstGeom prst="rect">
            <a:avLst/>
          </a:prstGeom>
          <a:noFill/>
        </p:spPr>
        <p:txBody>
          <a:bodyPr wrap="none" lIns="0" tIns="0" rIns="0" bIns="0" rtlCol="0" anchor="t"/>
          <a:lstStyle/>
          <a:p>
            <a:pPr marL="0" indent="0" algn="l">
              <a:lnSpc>
                <a:spcPts val="4500"/>
              </a:lnSpc>
              <a:buNone/>
            </a:pPr>
            <a:r>
              <a:rPr lang="en-US" sz="3600" dirty="0">
                <a:solidFill>
                  <a:srgbClr val="76B9FF"/>
                </a:solidFill>
                <a:latin typeface="Roboto Slab" pitchFamily="34" charset="0"/>
                <a:ea typeface="Roboto Slab" pitchFamily="34" charset="-122"/>
                <a:cs typeface="Roboto Slab" pitchFamily="34" charset="-120"/>
              </a:rPr>
              <a:t>Алгоритм работы</a:t>
            </a:r>
            <a:endParaRPr lang="en-US" sz="3600" dirty="0"/>
          </a:p>
        </p:txBody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56905" y="1454706"/>
            <a:ext cx="12716470" cy="5492829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4255404" y="5247917"/>
            <a:ext cx="1359915" cy="366822"/>
          </a:xfrm>
          <a:prstGeom prst="rect">
            <a:avLst/>
          </a:prstGeom>
          <a:noFill/>
        </p:spPr>
        <p:txBody>
          <a:bodyPr wrap="none" lIns="0" tIns="0" rIns="0" bIns="0" rtlCol="0" anchor="t"/>
          <a:lstStyle/>
          <a:p>
            <a:pPr marL="0" indent="0" algn="ctr">
              <a:lnSpc>
                <a:spcPts val="2700"/>
              </a:lnSpc>
              <a:buNone/>
            </a:pPr>
            <a:r>
              <a:rPr lang="en-US" sz="2150" dirty="0">
                <a:solidFill>
                  <a:srgbClr val="D6E5EF"/>
                </a:solidFill>
                <a:latin typeface="Roboto Slab" pitchFamily="34" charset="0"/>
                <a:ea typeface="Roboto Slab" pitchFamily="34" charset="-122"/>
                <a:cs typeface="Roboto Slab" pitchFamily="34" charset="-120"/>
              </a:rPr>
              <a:t>AI-запрос</a:t>
            </a:r>
            <a:endParaRPr lang="en-US" sz="2150" dirty="0"/>
          </a:p>
        </p:txBody>
      </p:sp>
      <p:sp>
        <p:nvSpPr>
          <p:cNvPr id="5" name="Text 2"/>
          <p:cNvSpPr/>
          <p:nvPr/>
        </p:nvSpPr>
        <p:spPr>
          <a:xfrm>
            <a:off x="3991368" y="5701859"/>
            <a:ext cx="1888176" cy="747972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1950"/>
              </a:lnSpc>
              <a:buNone/>
            </a:pPr>
            <a:r>
              <a:rPr lang="en-US" sz="1700" dirty="0">
                <a:solidFill>
                  <a:srgbClr val="D6E5EF"/>
                </a:solidFill>
                <a:latin typeface="Roboto" panose="02000000000000000000" pitchFamily="34" charset="0"/>
                <a:ea typeface="Roboto" panose="02000000000000000000" pitchFamily="34" charset="-122"/>
                <a:cs typeface="Roboto" panose="02000000000000000000" pitchFamily="34" charset="-120"/>
              </a:rPr>
              <a:t>Отправка текста задачи в Llama 3, полчение JSON</a:t>
            </a:r>
            <a:endParaRPr lang="en-US" sz="1700" dirty="0"/>
          </a:p>
        </p:txBody>
      </p:sp>
      <p:sp>
        <p:nvSpPr>
          <p:cNvPr id="6" name="Text 3"/>
          <p:cNvSpPr/>
          <p:nvPr/>
        </p:nvSpPr>
        <p:spPr>
          <a:xfrm>
            <a:off x="9006317" y="5342488"/>
            <a:ext cx="1554788" cy="256775"/>
          </a:xfrm>
          <a:prstGeom prst="rect">
            <a:avLst/>
          </a:prstGeom>
          <a:noFill/>
        </p:spPr>
        <p:txBody>
          <a:bodyPr wrap="none" lIns="0" tIns="0" rIns="0" bIns="0" rtlCol="0" anchor="t"/>
          <a:lstStyle/>
          <a:p>
            <a:pPr marL="0" indent="0" algn="ctr">
              <a:lnSpc>
                <a:spcPts val="1950"/>
              </a:lnSpc>
              <a:buNone/>
            </a:pPr>
            <a:r>
              <a:rPr lang="en-US" sz="1700" b="1" dirty="0">
                <a:solidFill>
                  <a:srgbClr val="D6E5EF"/>
                </a:solidFill>
                <a:latin typeface="Roboto Bold" pitchFamily="34" charset="0"/>
                <a:ea typeface="Roboto Bold" pitchFamily="34" charset="-122"/>
                <a:cs typeface="Roboto Bold" pitchFamily="34" charset="-120"/>
              </a:rPr>
              <a:t>Ранжирование</a:t>
            </a:r>
            <a:endParaRPr lang="en-US" sz="1700" dirty="0"/>
          </a:p>
        </p:txBody>
      </p:sp>
      <p:sp>
        <p:nvSpPr>
          <p:cNvPr id="7" name="Text 4"/>
          <p:cNvSpPr/>
          <p:nvPr/>
        </p:nvSpPr>
        <p:spPr>
          <a:xfrm>
            <a:off x="8839719" y="5701859"/>
            <a:ext cx="1888176" cy="747972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1950"/>
              </a:lnSpc>
              <a:buNone/>
            </a:pPr>
            <a:r>
              <a:rPr lang="en-US" sz="1700" dirty="0">
                <a:solidFill>
                  <a:srgbClr val="D6E5EF"/>
                </a:solidFill>
                <a:latin typeface="Roboto" panose="02000000000000000000" pitchFamily="34" charset="0"/>
                <a:ea typeface="Roboto" panose="02000000000000000000" pitchFamily="34" charset="-122"/>
                <a:cs typeface="Roboto" panose="02000000000000000000" pitchFamily="34" charset="-120"/>
              </a:rPr>
              <a:t>Сортировка задач по важности (3→1)</a:t>
            </a:r>
            <a:endParaRPr lang="en-US" sz="1700" dirty="0"/>
          </a:p>
        </p:txBody>
      </p:sp>
      <p:sp>
        <p:nvSpPr>
          <p:cNvPr id="8" name="Text 5"/>
          <p:cNvSpPr/>
          <p:nvPr/>
        </p:nvSpPr>
        <p:spPr>
          <a:xfrm>
            <a:off x="1573212" y="1950344"/>
            <a:ext cx="1888176" cy="343895"/>
          </a:xfrm>
          <a:prstGeom prst="rect">
            <a:avLst/>
          </a:prstGeom>
          <a:noFill/>
        </p:spPr>
        <p:txBody>
          <a:bodyPr wrap="none" lIns="0" tIns="0" rIns="0" bIns="0" rtlCol="0" anchor="t"/>
          <a:lstStyle/>
          <a:p>
            <a:pPr marL="0" indent="0" algn="ctr">
              <a:lnSpc>
                <a:spcPts val="2700"/>
              </a:lnSpc>
              <a:buNone/>
            </a:pPr>
            <a:r>
              <a:rPr lang="en-US" sz="2150" dirty="0">
                <a:solidFill>
                  <a:srgbClr val="D6E5EF"/>
                </a:solidFill>
                <a:latin typeface="Roboto Slab" pitchFamily="34" charset="0"/>
                <a:ea typeface="Roboto Slab" pitchFamily="34" charset="-122"/>
                <a:cs typeface="Roboto Slab" pitchFamily="34" charset="-120"/>
              </a:rPr>
              <a:t>Ввод данных</a:t>
            </a:r>
            <a:endParaRPr lang="en-US" sz="2150" dirty="0"/>
          </a:p>
        </p:txBody>
      </p:sp>
      <p:sp>
        <p:nvSpPr>
          <p:cNvPr id="9" name="Text 6"/>
          <p:cNvSpPr/>
          <p:nvPr/>
        </p:nvSpPr>
        <p:spPr>
          <a:xfrm>
            <a:off x="1573212" y="2392058"/>
            <a:ext cx="1888176" cy="997296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1950"/>
              </a:lnSpc>
              <a:buNone/>
            </a:pPr>
            <a:r>
              <a:rPr lang="en-US" sz="1700" dirty="0">
                <a:solidFill>
                  <a:srgbClr val="D6E5EF"/>
                </a:solidFill>
                <a:latin typeface="Roboto" panose="02000000000000000000" pitchFamily="34" charset="0"/>
                <a:ea typeface="Roboto" panose="02000000000000000000" pitchFamily="34" charset="-122"/>
                <a:cs typeface="Roboto" panose="02000000000000000000" pitchFamily="34" charset="-120"/>
              </a:rPr>
              <a:t>Пользователь пишет заголовок и описание задачи</a:t>
            </a:r>
            <a:endParaRPr lang="en-US" sz="1700" dirty="0"/>
          </a:p>
        </p:txBody>
      </p:sp>
      <p:sp>
        <p:nvSpPr>
          <p:cNvPr id="10" name="Text 7"/>
          <p:cNvSpPr/>
          <p:nvPr/>
        </p:nvSpPr>
        <p:spPr>
          <a:xfrm>
            <a:off x="11376902" y="1938116"/>
            <a:ext cx="1505879" cy="256775"/>
          </a:xfrm>
          <a:prstGeom prst="rect">
            <a:avLst/>
          </a:prstGeom>
          <a:noFill/>
        </p:spPr>
        <p:txBody>
          <a:bodyPr wrap="none" lIns="0" tIns="0" rIns="0" bIns="0" rtlCol="0" anchor="t"/>
          <a:lstStyle/>
          <a:p>
            <a:pPr marL="0" indent="0" algn="ctr">
              <a:lnSpc>
                <a:spcPts val="1950"/>
              </a:lnSpc>
              <a:buNone/>
            </a:pPr>
            <a:r>
              <a:rPr lang="en-US" sz="1700" b="1" dirty="0">
                <a:solidFill>
                  <a:srgbClr val="D6E5EF"/>
                </a:solidFill>
                <a:latin typeface="Roboto Bold" pitchFamily="34" charset="0"/>
                <a:ea typeface="Roboto Bold" pitchFamily="34" charset="-122"/>
                <a:cs typeface="Roboto Bold" pitchFamily="34" charset="-120"/>
              </a:rPr>
              <a:t>Планирование</a:t>
            </a:r>
            <a:endParaRPr lang="en-US" sz="1700" dirty="0"/>
          </a:p>
        </p:txBody>
      </p:sp>
      <p:sp>
        <p:nvSpPr>
          <p:cNvPr id="11" name="Text 8"/>
          <p:cNvSpPr/>
          <p:nvPr/>
        </p:nvSpPr>
        <p:spPr>
          <a:xfrm>
            <a:off x="11058525" y="2297430"/>
            <a:ext cx="2141855" cy="997585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1950"/>
              </a:lnSpc>
              <a:buNone/>
            </a:pPr>
            <a:r>
              <a:rPr lang="en-US" sz="1700" dirty="0">
                <a:solidFill>
                  <a:srgbClr val="D6E5EF"/>
                </a:solidFill>
                <a:latin typeface="Roboto" panose="02000000000000000000" pitchFamily="34" charset="0"/>
                <a:ea typeface="Roboto" panose="02000000000000000000" pitchFamily="34" charset="-122"/>
                <a:cs typeface="Roboto" panose="02000000000000000000" pitchFamily="34" charset="-120"/>
              </a:rPr>
              <a:t>ИИ формирует логичную последовательность дня</a:t>
            </a:r>
            <a:endParaRPr lang="en-US" sz="1700" dirty="0"/>
          </a:p>
        </p:txBody>
      </p:sp>
      <p:sp>
        <p:nvSpPr>
          <p:cNvPr id="12" name="Text 9"/>
          <p:cNvSpPr/>
          <p:nvPr/>
        </p:nvSpPr>
        <p:spPr>
          <a:xfrm>
            <a:off x="6445634" y="1950344"/>
            <a:ext cx="1888176" cy="343895"/>
          </a:xfrm>
          <a:prstGeom prst="rect">
            <a:avLst/>
          </a:prstGeom>
          <a:noFill/>
        </p:spPr>
        <p:txBody>
          <a:bodyPr wrap="none" lIns="0" tIns="0" rIns="0" bIns="0" rtlCol="0" anchor="t"/>
          <a:lstStyle/>
          <a:p>
            <a:pPr marL="0" indent="0" algn="ctr">
              <a:lnSpc>
                <a:spcPts val="2700"/>
              </a:lnSpc>
              <a:buNone/>
            </a:pPr>
            <a:r>
              <a:rPr lang="en-US" sz="2150" dirty="0">
                <a:solidFill>
                  <a:srgbClr val="76B9FF"/>
                </a:solidFill>
                <a:latin typeface="Roboto Slab" pitchFamily="34" charset="0"/>
                <a:ea typeface="Roboto Slab" pitchFamily="34" charset="-122"/>
                <a:cs typeface="Roboto Slab" pitchFamily="34" charset="-120"/>
              </a:rPr>
              <a:t>Обработка</a:t>
            </a:r>
            <a:endParaRPr lang="en-US" sz="2150" dirty="0"/>
          </a:p>
        </p:txBody>
      </p:sp>
      <p:sp>
        <p:nvSpPr>
          <p:cNvPr id="13" name="Text 10"/>
          <p:cNvSpPr/>
          <p:nvPr/>
        </p:nvSpPr>
        <p:spPr>
          <a:xfrm>
            <a:off x="6445634" y="2392058"/>
            <a:ext cx="1888176" cy="997296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1950"/>
              </a:lnSpc>
              <a:buNone/>
            </a:pPr>
            <a:r>
              <a:rPr lang="en-US" sz="1700" dirty="0">
                <a:solidFill>
                  <a:srgbClr val="D6E5EF"/>
                </a:solidFill>
                <a:latin typeface="Roboto" panose="02000000000000000000" pitchFamily="34" charset="0"/>
                <a:ea typeface="Roboto" panose="02000000000000000000" pitchFamily="34" charset="-122"/>
                <a:cs typeface="Roboto" panose="02000000000000000000" pitchFamily="34" charset="-120"/>
              </a:rPr>
              <a:t>Извлечение категории, приоритета, времени</a:t>
            </a:r>
            <a:endParaRPr lang="en-US" sz="1700" dirty="0"/>
          </a:p>
        </p:txBody>
      </p:sp>
      <p:sp>
        <p:nvSpPr>
          <p:cNvPr id="14" name="Text 11"/>
          <p:cNvSpPr/>
          <p:nvPr/>
        </p:nvSpPr>
        <p:spPr>
          <a:xfrm>
            <a:off x="956905" y="7115889"/>
            <a:ext cx="12716470" cy="534352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ts val="2100"/>
              </a:lnSpc>
              <a:buNone/>
            </a:pPr>
            <a:r>
              <a:rPr lang="en-US" sz="1450" dirty="0">
                <a:solidFill>
                  <a:srgbClr val="D6E5EF"/>
                </a:solidFill>
                <a:latin typeface="Roboto" panose="02000000000000000000" pitchFamily="34" charset="0"/>
                <a:ea typeface="Roboto" panose="02000000000000000000" pitchFamily="34" charset="-122"/>
                <a:cs typeface="Roboto" panose="02000000000000000000" pitchFamily="34" charset="-120"/>
              </a:rPr>
              <a:t>Каждый шаг алгоритма обеспечивает точную обработку задачи: от ввода текста пользователем до формирования готового плана дня с учётом приоритетов и временных рамок.</a:t>
            </a:r>
            <a:endParaRPr lang="en-US" sz="14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13095" y="252055"/>
            <a:ext cx="7001947" cy="708779"/>
          </a:xfrm>
          <a:prstGeom prst="rect">
            <a:avLst/>
          </a:prstGeom>
          <a:noFill/>
        </p:spPr>
        <p:txBody>
          <a:bodyPr wrap="none" lIns="0" tIns="0" rIns="0" bIns="0" rtlCol="0" anchor="t"/>
          <a:lstStyle/>
          <a:p>
            <a:pPr marL="0" indent="0" algn="l">
              <a:lnSpc>
                <a:spcPts val="5550"/>
              </a:lnSpc>
              <a:buNone/>
            </a:pPr>
            <a:r>
              <a:rPr lang="en-US" sz="4450" dirty="0">
                <a:solidFill>
                  <a:srgbClr val="76B9FF"/>
                </a:solidFill>
                <a:latin typeface="Roboto Slab" pitchFamily="34" charset="0"/>
                <a:ea typeface="Roboto Slab" pitchFamily="34" charset="-122"/>
                <a:cs typeface="Roboto Slab" pitchFamily="34" charset="-120"/>
              </a:rPr>
              <a:t>Интерфейс приложения</a:t>
            </a:r>
            <a:endParaRPr lang="en-US" sz="4450" dirty="0"/>
          </a:p>
        </p:txBody>
      </p:sp>
      <p:sp>
        <p:nvSpPr>
          <p:cNvPr id="4" name="Text 1"/>
          <p:cNvSpPr/>
          <p:nvPr>
            <p:custDataLst>
              <p:tags r:id="rId1"/>
            </p:custDataLst>
          </p:nvPr>
        </p:nvSpPr>
        <p:spPr>
          <a:xfrm>
            <a:off x="513755" y="3937675"/>
            <a:ext cx="2835235" cy="354330"/>
          </a:xfrm>
          <a:prstGeom prst="rect">
            <a:avLst/>
          </a:prstGeom>
          <a:noFill/>
        </p:spPr>
        <p:txBody>
          <a:bodyPr wrap="none" lIns="0" tIns="0" rIns="0" bIns="0" rtlCol="0" anchor="t"/>
          <a:lstStyle/>
          <a:p>
            <a:pPr marL="0" indent="0" algn="l">
              <a:lnSpc>
                <a:spcPts val="2750"/>
              </a:lnSpc>
              <a:buNone/>
            </a:pPr>
            <a:r>
              <a:rPr lang="en-US" sz="2200" dirty="0">
                <a:solidFill>
                  <a:srgbClr val="D6E5EF"/>
                </a:solidFill>
                <a:latin typeface="Roboto Slab" pitchFamily="34" charset="0"/>
                <a:ea typeface="Roboto Slab" pitchFamily="34" charset="-122"/>
                <a:cs typeface="Roboto Slab" pitchFamily="34" charset="-120"/>
              </a:rPr>
              <a:t>Авторизация</a:t>
            </a:r>
            <a:endParaRPr lang="en-US" sz="2200" dirty="0"/>
          </a:p>
        </p:txBody>
      </p:sp>
      <p:sp>
        <p:nvSpPr>
          <p:cNvPr id="5" name="Text 2"/>
          <p:cNvSpPr/>
          <p:nvPr>
            <p:custDataLst>
              <p:tags r:id="rId2"/>
            </p:custDataLst>
          </p:nvPr>
        </p:nvSpPr>
        <p:spPr>
          <a:xfrm>
            <a:off x="513755" y="4428093"/>
            <a:ext cx="4158615" cy="1088708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ts val="2850"/>
              </a:lnSpc>
              <a:buNone/>
            </a:pPr>
            <a:r>
              <a:rPr lang="en-US" sz="1750" dirty="0">
                <a:solidFill>
                  <a:srgbClr val="D6E5EF"/>
                </a:solidFill>
                <a:latin typeface="Roboto" panose="02000000000000000000" pitchFamily="34" charset="0"/>
                <a:ea typeface="Roboto" panose="02000000000000000000" pitchFamily="34" charset="-122"/>
                <a:cs typeface="Roboto" panose="02000000000000000000" pitchFamily="34" charset="-120"/>
              </a:rPr>
              <a:t>Лаконичная форма входа и регистрации, защищающая данные каждого пользователя.</a:t>
            </a:r>
            <a:endParaRPr lang="en-US" sz="1750" dirty="0"/>
          </a:p>
        </p:txBody>
      </p:sp>
      <p:sp>
        <p:nvSpPr>
          <p:cNvPr id="7" name="Text 3"/>
          <p:cNvSpPr/>
          <p:nvPr>
            <p:custDataLst>
              <p:tags r:id="rId3"/>
            </p:custDataLst>
          </p:nvPr>
        </p:nvSpPr>
        <p:spPr>
          <a:xfrm>
            <a:off x="4573588" y="5026700"/>
            <a:ext cx="2835235" cy="354330"/>
          </a:xfrm>
          <a:prstGeom prst="rect">
            <a:avLst/>
          </a:prstGeom>
          <a:noFill/>
        </p:spPr>
        <p:txBody>
          <a:bodyPr wrap="none" lIns="0" tIns="0" rIns="0" bIns="0" rtlCol="0" anchor="t"/>
          <a:lstStyle/>
          <a:p>
            <a:pPr marL="0" indent="0" algn="l">
              <a:lnSpc>
                <a:spcPts val="2750"/>
              </a:lnSpc>
              <a:buNone/>
            </a:pPr>
            <a:r>
              <a:rPr lang="en-US" sz="2200" dirty="0">
                <a:solidFill>
                  <a:srgbClr val="D6E5EF"/>
                </a:solidFill>
                <a:latin typeface="Roboto Slab" pitchFamily="34" charset="0"/>
                <a:ea typeface="Roboto Slab" pitchFamily="34" charset="-122"/>
                <a:cs typeface="Roboto Slab" pitchFamily="34" charset="-120"/>
              </a:rPr>
              <a:t>Главная страница</a:t>
            </a:r>
            <a:endParaRPr lang="en-US" sz="2200" dirty="0"/>
          </a:p>
        </p:txBody>
      </p:sp>
      <p:sp>
        <p:nvSpPr>
          <p:cNvPr id="8" name="Text 4"/>
          <p:cNvSpPr/>
          <p:nvPr>
            <p:custDataLst>
              <p:tags r:id="rId4"/>
            </p:custDataLst>
          </p:nvPr>
        </p:nvSpPr>
        <p:spPr>
          <a:xfrm>
            <a:off x="4573588" y="5517118"/>
            <a:ext cx="4158615" cy="1088708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ts val="2850"/>
              </a:lnSpc>
              <a:buNone/>
            </a:pPr>
            <a:r>
              <a:rPr lang="en-US" sz="1750" dirty="0">
                <a:solidFill>
                  <a:srgbClr val="D6E5EF"/>
                </a:solidFill>
                <a:latin typeface="Roboto" panose="02000000000000000000" pitchFamily="34" charset="0"/>
                <a:ea typeface="Roboto" panose="02000000000000000000" pitchFamily="34" charset="-122"/>
                <a:cs typeface="Roboto" panose="02000000000000000000" pitchFamily="34" charset="-120"/>
              </a:rPr>
              <a:t>Список карточек задач с иконками важности и кнопками создания задачи и плана дня.</a:t>
            </a:r>
            <a:endParaRPr lang="en-US" sz="1750" dirty="0"/>
          </a:p>
        </p:txBody>
      </p:sp>
      <p:sp>
        <p:nvSpPr>
          <p:cNvPr id="10" name="Text 5"/>
          <p:cNvSpPr/>
          <p:nvPr>
            <p:custDataLst>
              <p:tags r:id="rId5"/>
            </p:custDataLst>
          </p:nvPr>
        </p:nvSpPr>
        <p:spPr>
          <a:xfrm>
            <a:off x="10288230" y="3102015"/>
            <a:ext cx="2835235" cy="354330"/>
          </a:xfrm>
          <a:prstGeom prst="rect">
            <a:avLst/>
          </a:prstGeom>
          <a:noFill/>
        </p:spPr>
        <p:txBody>
          <a:bodyPr wrap="none" lIns="0" tIns="0" rIns="0" bIns="0" rtlCol="0" anchor="t"/>
          <a:lstStyle/>
          <a:p>
            <a:pPr marL="0" indent="0" algn="l">
              <a:lnSpc>
                <a:spcPts val="2750"/>
              </a:lnSpc>
              <a:buNone/>
            </a:pPr>
            <a:r>
              <a:rPr lang="en-US" sz="2200" dirty="0">
                <a:solidFill>
                  <a:srgbClr val="D6E5EF"/>
                </a:solidFill>
                <a:latin typeface="Roboto Slab" pitchFamily="34" charset="0"/>
                <a:ea typeface="Roboto Slab" pitchFamily="34" charset="-122"/>
                <a:cs typeface="Roboto Slab" pitchFamily="34" charset="-120"/>
              </a:rPr>
              <a:t>Умное расписание</a:t>
            </a:r>
            <a:endParaRPr lang="en-US" sz="2200" dirty="0"/>
          </a:p>
        </p:txBody>
      </p:sp>
      <p:sp>
        <p:nvSpPr>
          <p:cNvPr id="11" name="Text 6"/>
          <p:cNvSpPr/>
          <p:nvPr>
            <p:custDataLst>
              <p:tags r:id="rId6"/>
            </p:custDataLst>
          </p:nvPr>
        </p:nvSpPr>
        <p:spPr>
          <a:xfrm>
            <a:off x="10288230" y="3592433"/>
            <a:ext cx="4158615" cy="1088708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ts val="2850"/>
              </a:lnSpc>
              <a:buNone/>
            </a:pPr>
            <a:r>
              <a:rPr lang="en-US" sz="1750" dirty="0">
                <a:solidFill>
                  <a:srgbClr val="D6E5EF"/>
                </a:solidFill>
                <a:latin typeface="Roboto" panose="02000000000000000000" pitchFamily="34" charset="0"/>
                <a:ea typeface="Roboto" panose="02000000000000000000" pitchFamily="34" charset="-122"/>
                <a:cs typeface="Roboto" panose="02000000000000000000" pitchFamily="34" charset="-120"/>
              </a:rPr>
              <a:t>Текстовый план дня, сгенерированный нейросетью Llama-3 с учётом приоритетов и времени.</a:t>
            </a:r>
            <a:endParaRPr lang="en-US" sz="1750" dirty="0"/>
          </a:p>
        </p:txBody>
      </p:sp>
      <p:pic>
        <p:nvPicPr>
          <p:cNvPr id="13" name="Изображение 2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076373" y="4799330"/>
            <a:ext cx="5258435" cy="2523490"/>
          </a:xfrm>
          <a:prstGeom prst="rect">
            <a:avLst/>
          </a:prstGeom>
          <a:noFill/>
          <a:ln>
            <a:noFill/>
          </a:ln>
        </p:spPr>
      </p:pic>
      <p:pic>
        <p:nvPicPr>
          <p:cNvPr id="14" name="Изображение 17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0" y="960755"/>
            <a:ext cx="5860415" cy="2795905"/>
          </a:xfrm>
          <a:prstGeom prst="rect">
            <a:avLst/>
          </a:prstGeom>
          <a:noFill/>
          <a:ln>
            <a:noFill/>
          </a:ln>
        </p:spPr>
      </p:pic>
      <p:pic>
        <p:nvPicPr>
          <p:cNvPr id="12" name="Изображение 1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774883" y="2462848"/>
            <a:ext cx="5258435" cy="251015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81407" y="657344"/>
            <a:ext cx="5582007" cy="697706"/>
          </a:xfrm>
          <a:prstGeom prst="rect">
            <a:avLst/>
          </a:prstGeom>
          <a:noFill/>
        </p:spPr>
        <p:txBody>
          <a:bodyPr wrap="none" lIns="0" tIns="0" rIns="0" bIns="0" rtlCol="0" anchor="t"/>
          <a:lstStyle/>
          <a:p>
            <a:pPr marL="0" indent="0" algn="l">
              <a:lnSpc>
                <a:spcPts val="5450"/>
              </a:lnSpc>
              <a:buNone/>
            </a:pPr>
            <a:r>
              <a:rPr lang="en-US" sz="4350" dirty="0">
                <a:solidFill>
                  <a:srgbClr val="76B9FF"/>
                </a:solidFill>
                <a:latin typeface="Roboto Slab" pitchFamily="34" charset="0"/>
                <a:ea typeface="Roboto Slab" pitchFamily="34" charset="-122"/>
                <a:cs typeface="Roboto Slab" pitchFamily="34" charset="-120"/>
              </a:rPr>
              <a:t>Фрагмент кода</a:t>
            </a:r>
            <a:endParaRPr lang="en-US" sz="4350" dirty="0"/>
          </a:p>
        </p:txBody>
      </p:sp>
      <p:sp>
        <p:nvSpPr>
          <p:cNvPr id="3" name="Text 1"/>
          <p:cNvSpPr/>
          <p:nvPr/>
        </p:nvSpPr>
        <p:spPr>
          <a:xfrm>
            <a:off x="781407" y="1794629"/>
            <a:ext cx="13067586" cy="70866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ts val="2750"/>
              </a:lnSpc>
              <a:buNone/>
            </a:pPr>
            <a:r>
              <a:rPr lang="en-US" sz="1750" dirty="0">
                <a:solidFill>
                  <a:srgbClr val="D6E5EF"/>
                </a:solidFill>
                <a:latin typeface="Roboto" panose="02000000000000000000" pitchFamily="34" charset="0"/>
                <a:ea typeface="Roboto" panose="02000000000000000000" pitchFamily="34" charset="-122"/>
                <a:cs typeface="Roboto" panose="02000000000000000000" pitchFamily="34" charset="-120"/>
              </a:rPr>
              <a:t>Сердце программы — функция связи с ИИ, которая позволяет приложению «понимать» человеческий язык и структурировать его:</a:t>
            </a:r>
            <a:endParaRPr lang="en-US" sz="1750" dirty="0"/>
          </a:p>
        </p:txBody>
      </p:sp>
      <p:sp>
        <p:nvSpPr>
          <p:cNvPr id="4" name="Shape 2"/>
          <p:cNvSpPr/>
          <p:nvPr/>
        </p:nvSpPr>
        <p:spPr>
          <a:xfrm>
            <a:off x="781407" y="2750463"/>
            <a:ext cx="13067586" cy="3281124"/>
          </a:xfrm>
          <a:prstGeom prst="roundRect">
            <a:avLst>
              <a:gd name="adj" fmla="val 1021"/>
            </a:avLst>
          </a:prstGeom>
          <a:solidFill>
            <a:srgbClr val="2D3440"/>
          </a:solidFill>
        </p:spPr>
      </p:sp>
      <p:sp>
        <p:nvSpPr>
          <p:cNvPr id="5" name="Shape 3"/>
          <p:cNvSpPr/>
          <p:nvPr/>
        </p:nvSpPr>
        <p:spPr>
          <a:xfrm>
            <a:off x="770334" y="2750463"/>
            <a:ext cx="13089731" cy="3281124"/>
          </a:xfrm>
          <a:prstGeom prst="roundRect">
            <a:avLst>
              <a:gd name="adj" fmla="val 1021"/>
            </a:avLst>
          </a:prstGeom>
          <a:solidFill>
            <a:srgbClr val="2D3440"/>
          </a:solidFill>
        </p:spPr>
      </p:sp>
      <p:sp>
        <p:nvSpPr>
          <p:cNvPr id="6" name="Text 4"/>
          <p:cNvSpPr/>
          <p:nvPr/>
        </p:nvSpPr>
        <p:spPr>
          <a:xfrm>
            <a:off x="1049417" y="2973705"/>
            <a:ext cx="12531566" cy="283464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ts val="2750"/>
              </a:lnSpc>
              <a:buNone/>
            </a:pPr>
            <a:r>
              <a:rPr lang="en-US" sz="1750" dirty="0">
                <a:solidFill>
                  <a:srgbClr val="8B949E"/>
                </a:solidFill>
                <a:highlight>
                  <a:srgbClr val="2D3440"/>
                </a:highlight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# Запрос к нейросети для парсинга задачи</a:t>
            </a:r>
            <a:endParaRPr lang="en-US" sz="1750" dirty="0"/>
          </a:p>
          <a:p>
            <a:pPr marL="0" indent="0" algn="l">
              <a:lnSpc>
                <a:spcPts val="2750"/>
              </a:lnSpc>
              <a:buNone/>
            </a:pPr>
            <a:r>
              <a:rPr lang="en-US" sz="1750" dirty="0">
                <a:solidFill>
                  <a:schemeClr val="bg1"/>
                </a:solidFill>
                <a:highlight>
                  <a:srgbClr val="2D3440"/>
                </a:highlight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response = client.chat.completions.create(</a:t>
            </a:r>
            <a:endParaRPr lang="en-US" sz="1750" dirty="0">
              <a:solidFill>
                <a:schemeClr val="bg1"/>
              </a:solidFill>
            </a:endParaRPr>
          </a:p>
          <a:p>
            <a:pPr marL="0" indent="0" algn="l">
              <a:lnSpc>
                <a:spcPts val="2750"/>
              </a:lnSpc>
              <a:buNone/>
            </a:pPr>
            <a:r>
              <a:rPr lang="en-US" sz="1750" dirty="0">
                <a:solidFill>
                  <a:schemeClr val="bg1"/>
                </a:solidFill>
                <a:highlight>
                  <a:srgbClr val="2D3440"/>
                </a:highlight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    model=</a:t>
            </a:r>
            <a:r>
              <a:rPr lang="en-US" sz="1750" dirty="0">
                <a:solidFill>
                  <a:schemeClr val="accent1">
                    <a:lumMod val="60000"/>
                    <a:lumOff val="40000"/>
                  </a:schemeClr>
                </a:solidFill>
                <a:highlight>
                  <a:srgbClr val="2D3440"/>
                </a:highlight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"llama-3.3-70b-versatile"</a:t>
            </a:r>
            <a:r>
              <a:rPr lang="en-US" sz="1750" dirty="0">
                <a:solidFill>
                  <a:schemeClr val="bg1"/>
                </a:solidFill>
                <a:highlight>
                  <a:srgbClr val="2D3440"/>
                </a:highlight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,</a:t>
            </a:r>
            <a:endParaRPr lang="en-US" sz="1750" dirty="0">
              <a:solidFill>
                <a:schemeClr val="bg1"/>
              </a:solidFill>
            </a:endParaRPr>
          </a:p>
          <a:p>
            <a:pPr marL="0" indent="0" algn="l">
              <a:lnSpc>
                <a:spcPts val="2750"/>
              </a:lnSpc>
              <a:buNone/>
            </a:pPr>
            <a:r>
              <a:rPr lang="en-US" sz="1750" dirty="0">
                <a:solidFill>
                  <a:schemeClr val="bg1"/>
                </a:solidFill>
                <a:highlight>
                  <a:srgbClr val="2D3440"/>
                </a:highlight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    messages=[{</a:t>
            </a:r>
            <a:r>
              <a:rPr lang="en-US" sz="1750" dirty="0">
                <a:solidFill>
                  <a:schemeClr val="accent1">
                    <a:lumMod val="60000"/>
                    <a:lumOff val="40000"/>
                  </a:schemeClr>
                </a:solidFill>
                <a:highlight>
                  <a:srgbClr val="2D3440"/>
                </a:highlight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"role"</a:t>
            </a:r>
            <a:r>
              <a:rPr lang="en-US" sz="1750" dirty="0">
                <a:solidFill>
                  <a:schemeClr val="bg1"/>
                </a:solidFill>
                <a:highlight>
                  <a:srgbClr val="2D3440"/>
                </a:highlight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: </a:t>
            </a:r>
            <a:r>
              <a:rPr lang="en-US" sz="1750" dirty="0">
                <a:solidFill>
                  <a:schemeClr val="accent1">
                    <a:lumMod val="60000"/>
                    <a:lumOff val="40000"/>
                  </a:schemeClr>
                </a:solidFill>
                <a:highlight>
                  <a:srgbClr val="2D3440"/>
                </a:highlight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"user"</a:t>
            </a:r>
            <a:r>
              <a:rPr lang="en-US" sz="1750" dirty="0">
                <a:solidFill>
                  <a:schemeClr val="bg1"/>
                </a:solidFill>
                <a:highlight>
                  <a:srgbClr val="2D3440"/>
                </a:highlight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, </a:t>
            </a:r>
            <a:r>
              <a:rPr lang="en-US" sz="1750" dirty="0">
                <a:solidFill>
                  <a:schemeClr val="accent1">
                    <a:lumMod val="60000"/>
                    <a:lumOff val="40000"/>
                  </a:schemeClr>
                </a:solidFill>
                <a:highlight>
                  <a:srgbClr val="2D3440"/>
                </a:highlight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"content"</a:t>
            </a:r>
            <a:r>
              <a:rPr lang="en-US" sz="1750" dirty="0">
                <a:solidFill>
                  <a:schemeClr val="bg1"/>
                </a:solidFill>
                <a:highlight>
                  <a:srgbClr val="2D3440"/>
                </a:highlight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: prompt}],</a:t>
            </a:r>
            <a:endParaRPr lang="en-US" sz="1750" dirty="0">
              <a:solidFill>
                <a:schemeClr val="bg1"/>
              </a:solidFill>
            </a:endParaRPr>
          </a:p>
          <a:p>
            <a:pPr marL="0" indent="0" algn="l">
              <a:lnSpc>
                <a:spcPts val="2750"/>
              </a:lnSpc>
              <a:buNone/>
            </a:pPr>
            <a:r>
              <a:rPr lang="en-US" sz="1750" dirty="0">
                <a:solidFill>
                  <a:schemeClr val="bg1"/>
                </a:solidFill>
                <a:highlight>
                  <a:srgbClr val="2D3440"/>
                </a:highlight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    response_format={</a:t>
            </a:r>
            <a:r>
              <a:rPr lang="en-US" sz="1750" dirty="0">
                <a:solidFill>
                  <a:schemeClr val="accent1">
                    <a:lumMod val="60000"/>
                    <a:lumOff val="40000"/>
                  </a:schemeClr>
                </a:solidFill>
                <a:highlight>
                  <a:srgbClr val="2D3440"/>
                </a:highlight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"type"</a:t>
            </a:r>
            <a:r>
              <a:rPr lang="en-US" sz="1750" dirty="0">
                <a:solidFill>
                  <a:schemeClr val="bg1"/>
                </a:solidFill>
                <a:highlight>
                  <a:srgbClr val="2D3440"/>
                </a:highlight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: </a:t>
            </a:r>
            <a:r>
              <a:rPr lang="en-US" sz="1750" dirty="0">
                <a:solidFill>
                  <a:schemeClr val="accent1">
                    <a:lumMod val="60000"/>
                    <a:lumOff val="40000"/>
                  </a:schemeClr>
                </a:solidFill>
                <a:highlight>
                  <a:srgbClr val="2D3440"/>
                </a:highlight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"json_object"</a:t>
            </a:r>
            <a:r>
              <a:rPr lang="en-US" sz="1750" dirty="0">
                <a:solidFill>
                  <a:schemeClr val="bg1"/>
                </a:solidFill>
                <a:highlight>
                  <a:srgbClr val="2D3440"/>
                </a:highlight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}</a:t>
            </a:r>
            <a:endParaRPr lang="en-US" sz="1750" dirty="0">
              <a:solidFill>
                <a:schemeClr val="bg1"/>
              </a:solidFill>
            </a:endParaRPr>
          </a:p>
          <a:p>
            <a:pPr marL="0" indent="0" algn="l">
              <a:lnSpc>
                <a:spcPts val="2750"/>
              </a:lnSpc>
              <a:buNone/>
            </a:pPr>
            <a:r>
              <a:rPr lang="en-US" sz="1750" dirty="0">
                <a:solidFill>
                  <a:schemeClr val="bg1"/>
                </a:solidFill>
                <a:highlight>
                  <a:srgbClr val="2D3440"/>
                </a:highlight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)</a:t>
            </a:r>
            <a:endParaRPr lang="en-US" sz="1750" dirty="0">
              <a:solidFill>
                <a:schemeClr val="bg1"/>
              </a:solidFill>
            </a:endParaRPr>
          </a:p>
          <a:p>
            <a:pPr marL="0" indent="0" algn="l">
              <a:lnSpc>
                <a:spcPts val="2750"/>
              </a:lnSpc>
              <a:buNone/>
            </a:pPr>
            <a:endParaRPr lang="en-US" sz="1750" dirty="0"/>
          </a:p>
          <a:p>
            <a:pPr marL="0" indent="0" algn="l">
              <a:lnSpc>
                <a:spcPts val="2750"/>
              </a:lnSpc>
              <a:buNone/>
            </a:pPr>
            <a:r>
              <a:rPr lang="en-US" sz="1750" dirty="0">
                <a:solidFill>
                  <a:srgbClr val="8B949E"/>
                </a:solidFill>
                <a:highlight>
                  <a:srgbClr val="2D3440"/>
                </a:highlight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# На выходе получаем готовую категорию и приоритет</a:t>
            </a:r>
            <a:endParaRPr lang="en-US" sz="1750" dirty="0"/>
          </a:p>
        </p:txBody>
      </p:sp>
      <p:sp>
        <p:nvSpPr>
          <p:cNvPr id="7" name="Shape 5"/>
          <p:cNvSpPr/>
          <p:nvPr/>
        </p:nvSpPr>
        <p:spPr>
          <a:xfrm>
            <a:off x="781407" y="6278761"/>
            <a:ext cx="13067586" cy="1293495"/>
          </a:xfrm>
          <a:prstGeom prst="roundRect">
            <a:avLst>
              <a:gd name="adj" fmla="val 2589"/>
            </a:avLst>
          </a:prstGeom>
          <a:solidFill>
            <a:srgbClr val="022349"/>
          </a:solidFill>
        </p:spPr>
      </p:sp>
      <p:pic>
        <p:nvPicPr>
          <p:cNvPr id="8" name="Image 0" descr="preencoded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04649" y="6613803"/>
            <a:ext cx="279083" cy="223242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506974" y="6554272"/>
            <a:ext cx="12118777" cy="70866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ts val="2750"/>
              </a:lnSpc>
              <a:buNone/>
            </a:pPr>
            <a:r>
              <a:rPr lang="en-US" sz="1750" dirty="0">
                <a:solidFill>
                  <a:srgbClr val="FFFFFF"/>
                </a:solidFill>
                <a:latin typeface="Roboto" panose="02000000000000000000" pitchFamily="34" charset="0"/>
                <a:ea typeface="Roboto" panose="02000000000000000000" pitchFamily="34" charset="-122"/>
                <a:cs typeface="Roboto" panose="02000000000000000000" pitchFamily="34" charset="-120"/>
              </a:rPr>
              <a:t>Этот код отправляет текст задачи в Groq API и получает обратно структурированный JSON с категорией, приоритетом и оценкой времени выполнения — всё автоматически, без участия пользователя.</a:t>
            </a:r>
            <a:endParaRPr lang="en-US" sz="17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5486400" cy="82296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280190" y="1264325"/>
            <a:ext cx="7556421" cy="1417558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ts val="5550"/>
              </a:lnSpc>
              <a:buNone/>
            </a:pPr>
            <a:r>
              <a:rPr lang="en-US" sz="4450" dirty="0">
                <a:solidFill>
                  <a:srgbClr val="76B9FF"/>
                </a:solidFill>
                <a:latin typeface="Roboto Slab" pitchFamily="34" charset="0"/>
                <a:ea typeface="Roboto Slab" pitchFamily="34" charset="-122"/>
                <a:cs typeface="Roboto Slab" pitchFamily="34" charset="-120"/>
              </a:rPr>
              <a:t>Результаты и тестирование</a:t>
            </a:r>
            <a:endParaRPr lang="en-US" sz="4450" dirty="0"/>
          </a:p>
        </p:txBody>
      </p:sp>
      <p:sp>
        <p:nvSpPr>
          <p:cNvPr id="4" name="Text 1"/>
          <p:cNvSpPr/>
          <p:nvPr/>
        </p:nvSpPr>
        <p:spPr>
          <a:xfrm>
            <a:off x="6280190" y="3135392"/>
            <a:ext cx="3636407" cy="748427"/>
          </a:xfrm>
          <a:prstGeom prst="rect">
            <a:avLst/>
          </a:prstGeom>
          <a:noFill/>
        </p:spPr>
        <p:txBody>
          <a:bodyPr wrap="none" lIns="0" tIns="0" rIns="0" bIns="0" rtlCol="0" anchor="t"/>
          <a:lstStyle/>
          <a:p>
            <a:pPr marL="0" indent="0" algn="ctr">
              <a:lnSpc>
                <a:spcPts val="5850"/>
              </a:lnSpc>
              <a:buNone/>
            </a:pPr>
            <a:r>
              <a:rPr lang="en-US" sz="5850" dirty="0">
                <a:solidFill>
                  <a:srgbClr val="D6E5EF"/>
                </a:solidFill>
                <a:latin typeface="Roboto Slab" pitchFamily="34" charset="0"/>
                <a:ea typeface="Roboto Slab" pitchFamily="34" charset="-122"/>
                <a:cs typeface="Roboto Slab" pitchFamily="34" charset="-120"/>
              </a:rPr>
              <a:t>9/10</a:t>
            </a:r>
            <a:endParaRPr lang="en-US" sz="5850" dirty="0"/>
          </a:p>
        </p:txBody>
      </p:sp>
      <p:sp>
        <p:nvSpPr>
          <p:cNvPr id="5" name="Text 2"/>
          <p:cNvSpPr/>
          <p:nvPr/>
        </p:nvSpPr>
        <p:spPr>
          <a:xfrm>
            <a:off x="6680716" y="4167188"/>
            <a:ext cx="2835235" cy="354330"/>
          </a:xfrm>
          <a:prstGeom prst="rect">
            <a:avLst/>
          </a:prstGeom>
          <a:noFill/>
        </p:spPr>
        <p:txBody>
          <a:bodyPr wrap="none" lIns="0" tIns="0" rIns="0" bIns="0" rtlCol="0" anchor="t"/>
          <a:lstStyle/>
          <a:p>
            <a:pPr marL="0" indent="0" algn="ctr">
              <a:lnSpc>
                <a:spcPts val="2750"/>
              </a:lnSpc>
              <a:buNone/>
            </a:pPr>
            <a:r>
              <a:rPr lang="en-US" sz="2200" dirty="0">
                <a:solidFill>
                  <a:srgbClr val="D6E5EF"/>
                </a:solidFill>
                <a:latin typeface="Roboto Slab" pitchFamily="34" charset="0"/>
                <a:ea typeface="Roboto Slab" pitchFamily="34" charset="-122"/>
                <a:cs typeface="Roboto Slab" pitchFamily="34" charset="-120"/>
              </a:rPr>
              <a:t>Точность ИИ</a:t>
            </a:r>
            <a:endParaRPr lang="en-US" sz="2200" dirty="0"/>
          </a:p>
        </p:txBody>
      </p:sp>
      <p:sp>
        <p:nvSpPr>
          <p:cNvPr id="6" name="Text 3"/>
          <p:cNvSpPr/>
          <p:nvPr/>
        </p:nvSpPr>
        <p:spPr>
          <a:xfrm>
            <a:off x="6280190" y="4657606"/>
            <a:ext cx="3636407" cy="1088708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2850"/>
              </a:lnSpc>
              <a:buNone/>
            </a:pPr>
            <a:r>
              <a:rPr lang="en-US" sz="1750" dirty="0">
                <a:solidFill>
                  <a:srgbClr val="D6E5EF"/>
                </a:solidFill>
                <a:latin typeface="Roboto" panose="02000000000000000000" pitchFamily="34" charset="0"/>
                <a:ea typeface="Roboto" panose="02000000000000000000" pitchFamily="34" charset="-122"/>
                <a:cs typeface="Roboto" panose="02000000000000000000" pitchFamily="34" charset="-120"/>
              </a:rPr>
              <a:t>В 9 из 10 случаев нейросеть верно определяет категорию и время выполнения задачи.</a:t>
            </a:r>
            <a:endParaRPr lang="en-US" sz="1750" dirty="0"/>
          </a:p>
        </p:txBody>
      </p:sp>
      <p:sp>
        <p:nvSpPr>
          <p:cNvPr id="7" name="Text 4"/>
          <p:cNvSpPr/>
          <p:nvPr/>
        </p:nvSpPr>
        <p:spPr>
          <a:xfrm>
            <a:off x="10200084" y="3135392"/>
            <a:ext cx="3636526" cy="748427"/>
          </a:xfrm>
          <a:prstGeom prst="rect">
            <a:avLst/>
          </a:prstGeom>
          <a:noFill/>
        </p:spPr>
        <p:txBody>
          <a:bodyPr wrap="none" lIns="0" tIns="0" rIns="0" bIns="0" rtlCol="0" anchor="t"/>
          <a:lstStyle/>
          <a:p>
            <a:pPr marL="0" indent="0" algn="ctr">
              <a:lnSpc>
                <a:spcPts val="5850"/>
              </a:lnSpc>
              <a:buNone/>
            </a:pPr>
            <a:r>
              <a:rPr lang="en-US" sz="5850" dirty="0">
                <a:solidFill>
                  <a:srgbClr val="D6E5EF"/>
                </a:solidFill>
                <a:latin typeface="Roboto Slab" pitchFamily="34" charset="0"/>
                <a:ea typeface="Roboto Slab" pitchFamily="34" charset="-122"/>
                <a:cs typeface="Roboto Slab" pitchFamily="34" charset="-120"/>
              </a:rPr>
              <a:t>0</a:t>
            </a:r>
            <a:endParaRPr lang="en-US" sz="5850" dirty="0"/>
          </a:p>
        </p:txBody>
      </p:sp>
      <p:sp>
        <p:nvSpPr>
          <p:cNvPr id="8" name="Text 5"/>
          <p:cNvSpPr/>
          <p:nvPr/>
        </p:nvSpPr>
        <p:spPr>
          <a:xfrm>
            <a:off x="10600730" y="4167188"/>
            <a:ext cx="2835235" cy="354330"/>
          </a:xfrm>
          <a:prstGeom prst="rect">
            <a:avLst/>
          </a:prstGeom>
          <a:noFill/>
        </p:spPr>
        <p:txBody>
          <a:bodyPr wrap="none" lIns="0" tIns="0" rIns="0" bIns="0" rtlCol="0" anchor="t"/>
          <a:lstStyle/>
          <a:p>
            <a:pPr marL="0" indent="0" algn="ctr">
              <a:lnSpc>
                <a:spcPts val="2750"/>
              </a:lnSpc>
              <a:buNone/>
            </a:pPr>
            <a:r>
              <a:rPr lang="en-US" sz="2200" dirty="0">
                <a:solidFill>
                  <a:srgbClr val="D6E5EF"/>
                </a:solidFill>
                <a:latin typeface="Roboto Slab" pitchFamily="34" charset="0"/>
                <a:ea typeface="Roboto Slab" pitchFamily="34" charset="-122"/>
                <a:cs typeface="Roboto Slab" pitchFamily="34" charset="-120"/>
              </a:rPr>
              <a:t>Ошибок загрузки</a:t>
            </a:r>
            <a:endParaRPr lang="en-US" sz="2200" dirty="0"/>
          </a:p>
        </p:txBody>
      </p:sp>
      <p:sp>
        <p:nvSpPr>
          <p:cNvPr id="9" name="Text 6"/>
          <p:cNvSpPr/>
          <p:nvPr/>
        </p:nvSpPr>
        <p:spPr>
          <a:xfrm>
            <a:off x="10200084" y="4657606"/>
            <a:ext cx="3636526" cy="1088708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2850"/>
              </a:lnSpc>
              <a:buNone/>
            </a:pPr>
            <a:r>
              <a:rPr lang="en-US" sz="1750" dirty="0">
                <a:solidFill>
                  <a:srgbClr val="D6E5EF"/>
                </a:solidFill>
                <a:latin typeface="Roboto" panose="02000000000000000000" pitchFamily="34" charset="0"/>
                <a:ea typeface="Roboto" panose="02000000000000000000" pitchFamily="34" charset="-122"/>
                <a:cs typeface="Roboto" panose="02000000000000000000" pitchFamily="34" charset="-120"/>
              </a:rPr>
              <a:t>Загрузка документов проходит без ошибок, пути сохраняются в базе данных.</a:t>
            </a:r>
            <a:endParaRPr lang="en-US" sz="1750" dirty="0"/>
          </a:p>
        </p:txBody>
      </p:sp>
      <p:sp>
        <p:nvSpPr>
          <p:cNvPr id="10" name="Shape 7"/>
          <p:cNvSpPr/>
          <p:nvPr/>
        </p:nvSpPr>
        <p:spPr>
          <a:xfrm>
            <a:off x="6280190" y="6001464"/>
            <a:ext cx="7556421" cy="963811"/>
          </a:xfrm>
          <a:prstGeom prst="roundRect">
            <a:avLst>
              <a:gd name="adj" fmla="val 3530"/>
            </a:avLst>
          </a:prstGeom>
          <a:solidFill>
            <a:srgbClr val="183A13"/>
          </a:solidFill>
        </p:spPr>
      </p:sp>
      <p:pic>
        <p:nvPicPr>
          <p:cNvPr id="11" name="Image 1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07004" y="6345555"/>
            <a:ext cx="283488" cy="226814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7017306" y="6284952"/>
            <a:ext cx="6592491" cy="362903"/>
          </a:xfrm>
          <a:prstGeom prst="rect">
            <a:avLst/>
          </a:prstGeom>
          <a:noFill/>
        </p:spPr>
        <p:txBody>
          <a:bodyPr wrap="none" lIns="0" tIns="0" rIns="0" bIns="0" rtlCol="0" anchor="t"/>
          <a:lstStyle/>
          <a:p>
            <a:pPr marL="0" indent="0" algn="l">
              <a:lnSpc>
                <a:spcPts val="2850"/>
              </a:lnSpc>
              <a:buNone/>
            </a:pPr>
            <a:r>
              <a:rPr lang="en-US" sz="1750" dirty="0">
                <a:solidFill>
                  <a:srgbClr val="FFFFFF"/>
                </a:solidFill>
                <a:latin typeface="Roboto" panose="02000000000000000000" pitchFamily="34" charset="0"/>
                <a:ea typeface="Roboto" panose="02000000000000000000" pitchFamily="34" charset="-122"/>
                <a:cs typeface="Roboto" panose="02000000000000000000" pitchFamily="34" charset="-120"/>
              </a:rPr>
              <a:t>Приложение успешно развёрнуто на хостинге.</a:t>
            </a:r>
            <a:endParaRPr lang="en-US" sz="17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56642" y="632817"/>
            <a:ext cx="7071479" cy="675680"/>
          </a:xfrm>
          <a:prstGeom prst="rect">
            <a:avLst/>
          </a:prstGeom>
          <a:noFill/>
        </p:spPr>
        <p:txBody>
          <a:bodyPr wrap="none" lIns="0" tIns="0" rIns="0" bIns="0" rtlCol="0" anchor="t"/>
          <a:lstStyle/>
          <a:p>
            <a:pPr marL="0" indent="0" algn="l">
              <a:lnSpc>
                <a:spcPts val="5300"/>
              </a:lnSpc>
              <a:buNone/>
            </a:pPr>
            <a:r>
              <a:rPr lang="en-US" sz="4250" dirty="0">
                <a:solidFill>
                  <a:srgbClr val="76B9FF"/>
                </a:solidFill>
                <a:latin typeface="Roboto Slab" pitchFamily="34" charset="0"/>
                <a:ea typeface="Roboto Slab" pitchFamily="34" charset="-122"/>
                <a:cs typeface="Roboto Slab" pitchFamily="34" charset="-120"/>
              </a:rPr>
              <a:t>Вывод, обучение и планы</a:t>
            </a:r>
            <a:endParaRPr lang="en-US" sz="4250" dirty="0"/>
          </a:p>
        </p:txBody>
      </p:sp>
      <p:sp>
        <p:nvSpPr>
          <p:cNvPr id="3" name="Text 1"/>
          <p:cNvSpPr/>
          <p:nvPr/>
        </p:nvSpPr>
        <p:spPr>
          <a:xfrm>
            <a:off x="756642" y="1823561"/>
            <a:ext cx="2702362" cy="337780"/>
          </a:xfrm>
          <a:prstGeom prst="rect">
            <a:avLst/>
          </a:prstGeom>
          <a:noFill/>
        </p:spPr>
        <p:txBody>
          <a:bodyPr wrap="none" lIns="0" tIns="0" rIns="0" bIns="0" rtlCol="0" anchor="t"/>
          <a:lstStyle/>
          <a:p>
            <a:pPr marL="0" indent="0" algn="l">
              <a:lnSpc>
                <a:spcPts val="2650"/>
              </a:lnSpc>
              <a:buNone/>
            </a:pPr>
            <a:r>
              <a:rPr lang="en-US" sz="2100" dirty="0">
                <a:solidFill>
                  <a:srgbClr val="76B9FF"/>
                </a:solidFill>
                <a:latin typeface="Roboto Slab" pitchFamily="34" charset="0"/>
                <a:ea typeface="Roboto Slab" pitchFamily="34" charset="-122"/>
                <a:cs typeface="Roboto Slab" pitchFamily="34" charset="-120"/>
              </a:rPr>
              <a:t>Что мы освоили</a:t>
            </a:r>
            <a:endParaRPr lang="en-US" sz="2100" dirty="0"/>
          </a:p>
        </p:txBody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837724" y="2403812"/>
            <a:ext cx="324207" cy="324207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459111" y="2393156"/>
            <a:ext cx="5592366" cy="675561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ts val="2650"/>
              </a:lnSpc>
              <a:buNone/>
            </a:pPr>
            <a:r>
              <a:rPr lang="en-US" sz="1700" dirty="0">
                <a:solidFill>
                  <a:srgbClr val="D6E5EF"/>
                </a:solidFill>
                <a:latin typeface="Roboto" panose="02000000000000000000" pitchFamily="34" charset="0"/>
                <a:ea typeface="Roboto" panose="02000000000000000000" pitchFamily="34" charset="-122"/>
                <a:cs typeface="Roboto" panose="02000000000000000000" pitchFamily="34" charset="-120"/>
              </a:rPr>
              <a:t>Работу с веб-фреймворком </a:t>
            </a:r>
            <a:r>
              <a:rPr lang="en-US" sz="1700" b="1" dirty="0">
                <a:solidFill>
                  <a:srgbClr val="D6E5EF"/>
                </a:solidFill>
                <a:latin typeface="Roboto" panose="02000000000000000000" pitchFamily="34" charset="0"/>
                <a:ea typeface="Roboto" panose="02000000000000000000" pitchFamily="34" charset="-122"/>
                <a:cs typeface="Roboto" panose="02000000000000000000" pitchFamily="34" charset="-120"/>
              </a:rPr>
              <a:t>Flask</a:t>
            </a:r>
            <a:r>
              <a:rPr lang="en-US" sz="1700" dirty="0">
                <a:solidFill>
                  <a:srgbClr val="D6E5EF"/>
                </a:solidFill>
                <a:latin typeface="Roboto" panose="02000000000000000000" pitchFamily="34" charset="0"/>
                <a:ea typeface="Roboto" panose="02000000000000000000" pitchFamily="34" charset="-122"/>
                <a:cs typeface="Roboto" panose="02000000000000000000" pitchFamily="34" charset="-120"/>
              </a:rPr>
              <a:t> и построение серверной логики.</a:t>
            </a:r>
            <a:endParaRPr lang="en-US" sz="1700" dirty="0"/>
          </a:p>
        </p:txBody>
      </p:sp>
      <p:pic>
        <p:nvPicPr>
          <p:cNvPr id="6" name="Image 1" descr="preencoded.png"/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837724" y="3491448"/>
            <a:ext cx="324207" cy="324207"/>
          </a:xfrm>
          <a:prstGeom prst="rect">
            <a:avLst/>
          </a:prstGeom>
        </p:spPr>
      </p:pic>
      <p:sp>
        <p:nvSpPr>
          <p:cNvPr id="7" name="Text 3"/>
          <p:cNvSpPr/>
          <p:nvPr/>
        </p:nvSpPr>
        <p:spPr>
          <a:xfrm>
            <a:off x="1459111" y="3480792"/>
            <a:ext cx="5592366" cy="675561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ts val="2650"/>
              </a:lnSpc>
              <a:buNone/>
            </a:pPr>
            <a:r>
              <a:rPr lang="en-US" sz="1700" dirty="0">
                <a:solidFill>
                  <a:srgbClr val="D6E5EF"/>
                </a:solidFill>
                <a:latin typeface="Roboto" panose="02000000000000000000" pitchFamily="34" charset="0"/>
                <a:ea typeface="Roboto" panose="02000000000000000000" pitchFamily="34" charset="-122"/>
                <a:cs typeface="Roboto" panose="02000000000000000000" pitchFamily="34" charset="-120"/>
              </a:rPr>
              <a:t>Проектирование </a:t>
            </a:r>
            <a:r>
              <a:rPr lang="en-US" sz="1700" b="1" dirty="0">
                <a:solidFill>
                  <a:srgbClr val="D6E5EF"/>
                </a:solidFill>
                <a:latin typeface="Roboto" panose="02000000000000000000" pitchFamily="34" charset="0"/>
                <a:ea typeface="Roboto" panose="02000000000000000000" pitchFamily="34" charset="-122"/>
                <a:cs typeface="Roboto" panose="02000000000000000000" pitchFamily="34" charset="-120"/>
              </a:rPr>
              <a:t>реляционных баз данных</a:t>
            </a:r>
            <a:r>
              <a:rPr lang="en-US" sz="1700" dirty="0">
                <a:solidFill>
                  <a:srgbClr val="D6E5EF"/>
                </a:solidFill>
                <a:latin typeface="Roboto" panose="02000000000000000000" pitchFamily="34" charset="0"/>
                <a:ea typeface="Roboto" panose="02000000000000000000" pitchFamily="34" charset="-122"/>
                <a:cs typeface="Roboto" panose="02000000000000000000" pitchFamily="34" charset="-120"/>
              </a:rPr>
              <a:t> с использованием SQLAlchemy.</a:t>
            </a:r>
            <a:endParaRPr lang="en-US" sz="1700" dirty="0"/>
          </a:p>
        </p:txBody>
      </p:sp>
      <p:pic>
        <p:nvPicPr>
          <p:cNvPr id="8" name="Image 2" descr="preencoded.png"/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837724" y="4579084"/>
            <a:ext cx="324207" cy="324207"/>
          </a:xfrm>
          <a:prstGeom prst="rect">
            <a:avLst/>
          </a:prstGeom>
        </p:spPr>
      </p:pic>
      <p:sp>
        <p:nvSpPr>
          <p:cNvPr id="9" name="Text 4"/>
          <p:cNvSpPr/>
          <p:nvPr/>
        </p:nvSpPr>
        <p:spPr>
          <a:xfrm>
            <a:off x="1459111" y="4568428"/>
            <a:ext cx="5592366" cy="675561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ts val="2650"/>
              </a:lnSpc>
              <a:buNone/>
            </a:pPr>
            <a:r>
              <a:rPr lang="en-US" sz="1700" dirty="0">
                <a:solidFill>
                  <a:srgbClr val="D6E5EF"/>
                </a:solidFill>
                <a:latin typeface="Roboto" panose="02000000000000000000" pitchFamily="34" charset="0"/>
                <a:ea typeface="Roboto" panose="02000000000000000000" pitchFamily="34" charset="-122"/>
                <a:cs typeface="Roboto" panose="02000000000000000000" pitchFamily="34" charset="-120"/>
              </a:rPr>
              <a:t>Интеграцию современных </a:t>
            </a:r>
            <a:r>
              <a:rPr lang="en-US" sz="1700" b="1" dirty="0">
                <a:solidFill>
                  <a:srgbClr val="D6E5EF"/>
                </a:solidFill>
                <a:latin typeface="Roboto" panose="02000000000000000000" pitchFamily="34" charset="0"/>
                <a:ea typeface="Roboto" panose="02000000000000000000" pitchFamily="34" charset="-122"/>
                <a:cs typeface="Roboto" panose="02000000000000000000" pitchFamily="34" charset="-120"/>
              </a:rPr>
              <a:t>LLM-моделей</a:t>
            </a:r>
            <a:r>
              <a:rPr lang="en-US" sz="1700" dirty="0">
                <a:solidFill>
                  <a:srgbClr val="D6E5EF"/>
                </a:solidFill>
                <a:latin typeface="Roboto" panose="02000000000000000000" pitchFamily="34" charset="0"/>
                <a:ea typeface="Roboto" panose="02000000000000000000" pitchFamily="34" charset="-122"/>
                <a:cs typeface="Roboto" panose="02000000000000000000" pitchFamily="34" charset="-120"/>
              </a:rPr>
              <a:t> в реальные продукты.</a:t>
            </a:r>
            <a:endParaRPr lang="en-US" sz="1700" dirty="0"/>
          </a:p>
        </p:txBody>
      </p:sp>
      <p:pic>
        <p:nvPicPr>
          <p:cNvPr id="10" name="Image 3" descr="preencoded.png"/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837724" y="5666720"/>
            <a:ext cx="324207" cy="324207"/>
          </a:xfrm>
          <a:prstGeom prst="rect">
            <a:avLst/>
          </a:prstGeom>
        </p:spPr>
      </p:pic>
      <p:sp>
        <p:nvSpPr>
          <p:cNvPr id="11" name="Text 5"/>
          <p:cNvSpPr/>
          <p:nvPr/>
        </p:nvSpPr>
        <p:spPr>
          <a:xfrm>
            <a:off x="1459111" y="5656064"/>
            <a:ext cx="5592366" cy="675561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ts val="2650"/>
              </a:lnSpc>
              <a:buNone/>
            </a:pPr>
            <a:r>
              <a:rPr lang="en-US" sz="1700" dirty="0">
                <a:solidFill>
                  <a:srgbClr val="D6E5EF"/>
                </a:solidFill>
                <a:latin typeface="Roboto" panose="02000000000000000000" pitchFamily="34" charset="0"/>
                <a:ea typeface="Roboto" panose="02000000000000000000" pitchFamily="34" charset="-122"/>
                <a:cs typeface="Roboto" panose="02000000000000000000" pitchFamily="34" charset="-120"/>
              </a:rPr>
              <a:t>Принципы работы </a:t>
            </a:r>
            <a:r>
              <a:rPr lang="en-US" sz="1700" b="1" dirty="0">
                <a:solidFill>
                  <a:srgbClr val="D6E5EF"/>
                </a:solidFill>
                <a:latin typeface="Roboto" panose="02000000000000000000" pitchFamily="34" charset="0"/>
                <a:ea typeface="Roboto" panose="02000000000000000000" pitchFamily="34" charset="-122"/>
                <a:cs typeface="Roboto" panose="02000000000000000000" pitchFamily="34" charset="-120"/>
              </a:rPr>
              <a:t>сессий и защиты данных</a:t>
            </a:r>
            <a:r>
              <a:rPr lang="en-US" sz="1700" dirty="0">
                <a:solidFill>
                  <a:srgbClr val="D6E5EF"/>
                </a:solidFill>
                <a:latin typeface="Roboto" panose="02000000000000000000" pitchFamily="34" charset="0"/>
                <a:ea typeface="Roboto" panose="02000000000000000000" pitchFamily="34" charset="-122"/>
                <a:cs typeface="Roboto" panose="02000000000000000000" pitchFamily="34" charset="-120"/>
              </a:rPr>
              <a:t> пользователей.</a:t>
            </a:r>
            <a:endParaRPr lang="en-US" sz="1700" dirty="0"/>
          </a:p>
        </p:txBody>
      </p:sp>
      <p:sp>
        <p:nvSpPr>
          <p:cNvPr id="12" name="Shape 6"/>
          <p:cNvSpPr/>
          <p:nvPr/>
        </p:nvSpPr>
        <p:spPr>
          <a:xfrm>
            <a:off x="7430810" y="1617583"/>
            <a:ext cx="6606302" cy="4945856"/>
          </a:xfrm>
          <a:prstGeom prst="roundRect">
            <a:avLst>
              <a:gd name="adj" fmla="val 656"/>
            </a:avLst>
          </a:prstGeom>
          <a:solidFill>
            <a:srgbClr val="0D0A2C"/>
          </a:solidFill>
        </p:spPr>
      </p:sp>
      <p:sp>
        <p:nvSpPr>
          <p:cNvPr id="13" name="Text 7"/>
          <p:cNvSpPr/>
          <p:nvPr/>
        </p:nvSpPr>
        <p:spPr>
          <a:xfrm>
            <a:off x="7646908" y="1823561"/>
            <a:ext cx="3062526" cy="337780"/>
          </a:xfrm>
          <a:prstGeom prst="rect">
            <a:avLst/>
          </a:prstGeom>
          <a:noFill/>
        </p:spPr>
        <p:txBody>
          <a:bodyPr wrap="none" lIns="0" tIns="0" rIns="0" bIns="0" rtlCol="0" anchor="t"/>
          <a:lstStyle/>
          <a:p>
            <a:pPr marL="0" indent="0" algn="l">
              <a:lnSpc>
                <a:spcPts val="2650"/>
              </a:lnSpc>
              <a:buNone/>
            </a:pPr>
            <a:r>
              <a:rPr lang="en-US" sz="2100" dirty="0">
                <a:solidFill>
                  <a:srgbClr val="76B9FF"/>
                </a:solidFill>
                <a:latin typeface="Roboto Slab" pitchFamily="34" charset="0"/>
                <a:ea typeface="Roboto Slab" pitchFamily="34" charset="-122"/>
                <a:cs typeface="Roboto Slab" pitchFamily="34" charset="-120"/>
              </a:rPr>
              <a:t>Планы по улучшению</a:t>
            </a:r>
            <a:endParaRPr lang="en-US" sz="2100" dirty="0"/>
          </a:p>
        </p:txBody>
      </p:sp>
      <p:sp>
        <p:nvSpPr>
          <p:cNvPr id="14" name="Text 8"/>
          <p:cNvSpPr/>
          <p:nvPr/>
        </p:nvSpPr>
        <p:spPr>
          <a:xfrm>
            <a:off x="7646908" y="2367320"/>
            <a:ext cx="6174105" cy="2918341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ts val="2650"/>
              </a:lnSpc>
              <a:buSzPct val="100000"/>
              <a:buNone/>
            </a:pPr>
            <a:r>
              <a:rPr lang="en-US" sz="1700" b="1" dirty="0">
                <a:solidFill>
                  <a:srgbClr val="D6E5EF"/>
                </a:solidFill>
                <a:latin typeface="Roboto" panose="02000000000000000000" pitchFamily="34" charset="0"/>
                <a:ea typeface="Roboto" panose="02000000000000000000" pitchFamily="34" charset="-122"/>
                <a:cs typeface="Roboto" panose="02000000000000000000" pitchFamily="34" charset="-120"/>
              </a:rPr>
              <a:t>Telegram-бот:</a:t>
            </a:r>
            <a:r>
              <a:rPr lang="en-US" sz="1700" dirty="0">
                <a:solidFill>
                  <a:srgbClr val="D6E5EF"/>
                </a:solidFill>
                <a:latin typeface="Roboto" panose="02000000000000000000" pitchFamily="34" charset="0"/>
                <a:ea typeface="Roboto" panose="02000000000000000000" pitchFamily="34" charset="-122"/>
                <a:cs typeface="Roboto" panose="02000000000000000000" pitchFamily="34" charset="-120"/>
              </a:rPr>
              <a:t> добавление задач голосом или коротким сообщением.</a:t>
            </a:r>
            <a:endParaRPr lang="en-US" sz="1700" dirty="0"/>
          </a:p>
          <a:p>
            <a:pPr marL="0" indent="0" algn="l">
              <a:lnSpc>
                <a:spcPts val="2650"/>
              </a:lnSpc>
              <a:buSzPct val="100000"/>
              <a:buNone/>
            </a:pPr>
            <a:r>
              <a:rPr lang="en-US" sz="1700" b="1" dirty="0">
                <a:solidFill>
                  <a:srgbClr val="D6E5EF"/>
                </a:solidFill>
                <a:latin typeface="Roboto" panose="02000000000000000000" pitchFamily="34" charset="0"/>
                <a:ea typeface="Roboto" panose="02000000000000000000" pitchFamily="34" charset="-122"/>
                <a:cs typeface="Roboto" panose="02000000000000000000" pitchFamily="34" charset="-120"/>
              </a:rPr>
              <a:t>Push-уведомления:</a:t>
            </a:r>
            <a:r>
              <a:rPr lang="en-US" sz="1700" dirty="0">
                <a:solidFill>
                  <a:srgbClr val="D6E5EF"/>
                </a:solidFill>
                <a:latin typeface="Roboto" panose="02000000000000000000" pitchFamily="34" charset="0"/>
                <a:ea typeface="Roboto" panose="02000000000000000000" pitchFamily="34" charset="-122"/>
                <a:cs typeface="Roboto" panose="02000000000000000000" pitchFamily="34" charset="-120"/>
              </a:rPr>
              <a:t> напоминания о приближающихся дедлайнах.</a:t>
            </a:r>
            <a:endParaRPr lang="en-US" sz="1700" dirty="0"/>
          </a:p>
          <a:p>
            <a:pPr marL="0" indent="0" algn="l">
              <a:lnSpc>
                <a:spcPts val="2650"/>
              </a:lnSpc>
              <a:buSzPct val="100000"/>
              <a:buNone/>
            </a:pPr>
            <a:r>
              <a:rPr lang="en-US" sz="1700" b="1" dirty="0">
                <a:solidFill>
                  <a:srgbClr val="D6E5EF"/>
                </a:solidFill>
                <a:latin typeface="Roboto" panose="02000000000000000000" pitchFamily="34" charset="0"/>
                <a:ea typeface="Roboto" panose="02000000000000000000" pitchFamily="34" charset="-122"/>
                <a:cs typeface="Roboto" panose="02000000000000000000" pitchFamily="34" charset="-120"/>
              </a:rPr>
              <a:t>Интеграция с календарями:</a:t>
            </a:r>
            <a:r>
              <a:rPr lang="en-US" sz="1700" dirty="0">
                <a:solidFill>
                  <a:srgbClr val="D6E5EF"/>
                </a:solidFill>
                <a:latin typeface="Roboto" panose="02000000000000000000" pitchFamily="34" charset="0"/>
                <a:ea typeface="Roboto" panose="02000000000000000000" pitchFamily="34" charset="-122"/>
                <a:cs typeface="Roboto" panose="02000000000000000000" pitchFamily="34" charset="-120"/>
              </a:rPr>
              <a:t> синхронизация с Google Calendar или Яндекс.Календарём.</a:t>
            </a:r>
            <a:endParaRPr lang="en-US" sz="1700" dirty="0"/>
          </a:p>
          <a:p>
            <a:pPr marL="0" indent="0" algn="l">
              <a:lnSpc>
                <a:spcPts val="2650"/>
              </a:lnSpc>
              <a:buSzPct val="100000"/>
              <a:buNone/>
            </a:pPr>
            <a:r>
              <a:rPr lang="en-US" sz="1700" b="1" dirty="0">
                <a:solidFill>
                  <a:srgbClr val="D6E5EF"/>
                </a:solidFill>
                <a:latin typeface="Roboto" panose="02000000000000000000" pitchFamily="34" charset="0"/>
                <a:ea typeface="Roboto" panose="02000000000000000000" pitchFamily="34" charset="-122"/>
                <a:cs typeface="Roboto" panose="02000000000000000000" pitchFamily="34" charset="-120"/>
              </a:rPr>
              <a:t>Командная работа:</a:t>
            </a:r>
            <a:r>
              <a:rPr lang="en-US" sz="1700" dirty="0">
                <a:solidFill>
                  <a:srgbClr val="D6E5EF"/>
                </a:solidFill>
                <a:latin typeface="Roboto" panose="02000000000000000000" pitchFamily="34" charset="0"/>
                <a:ea typeface="Roboto" panose="02000000000000000000" pitchFamily="34" charset="-122"/>
                <a:cs typeface="Roboto" panose="02000000000000000000" pitchFamily="34" charset="-120"/>
              </a:rPr>
              <a:t> возможность создавать общие списки задач.</a:t>
            </a:r>
            <a:endParaRPr lang="en-US" sz="1700" dirty="0"/>
          </a:p>
        </p:txBody>
      </p:sp>
      <p:sp>
        <p:nvSpPr>
          <p:cNvPr id="15" name="Text 9"/>
          <p:cNvSpPr/>
          <p:nvPr/>
        </p:nvSpPr>
        <p:spPr>
          <a:xfrm>
            <a:off x="1080849" y="7027069"/>
            <a:ext cx="12792908" cy="337780"/>
          </a:xfrm>
          <a:prstGeom prst="rect">
            <a:avLst/>
          </a:prstGeom>
          <a:noFill/>
        </p:spPr>
        <p:txBody>
          <a:bodyPr wrap="none" lIns="0" tIns="0" rIns="0" bIns="0" rtlCol="0" anchor="t"/>
          <a:lstStyle/>
          <a:p>
            <a:pPr marL="0" indent="0" algn="l">
              <a:lnSpc>
                <a:spcPts val="2650"/>
              </a:lnSpc>
              <a:buNone/>
            </a:pPr>
            <a:endParaRPr lang="en-US" sz="1700" dirty="0"/>
          </a:p>
        </p:txBody>
      </p:sp>
      <p:sp>
        <p:nvSpPr>
          <p:cNvPr id="16" name="Shape 10"/>
          <p:cNvSpPr/>
          <p:nvPr/>
        </p:nvSpPr>
        <p:spPr>
          <a:xfrm>
            <a:off x="756642" y="6795254"/>
            <a:ext cx="30480" cy="801410"/>
          </a:xfrm>
          <a:prstGeom prst="rect">
            <a:avLst/>
          </a:prstGeom>
          <a:solidFill>
            <a:srgbClr val="66A8EE"/>
          </a:solidFill>
        </p:spPr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Текстовое поле 1"/>
          <p:cNvSpPr txBox="1"/>
          <p:nvPr/>
        </p:nvSpPr>
        <p:spPr>
          <a:xfrm>
            <a:off x="3845560" y="3730625"/>
            <a:ext cx="6939280" cy="76835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algn="ctr"/>
            <a:r>
              <a:rPr lang="ru-RU" altLang="en-US" sz="4400">
                <a:solidFill>
                  <a:schemeClr val="bg1"/>
                </a:solidFill>
                <a:latin typeface="Times New Roman" panose="02020603050405020304" charset="0"/>
                <a:cs typeface="Times New Roman" panose="02020603050405020304" charset="0"/>
              </a:rPr>
              <a:t>Спасибо за внимание!</a:t>
            </a:r>
            <a:endParaRPr lang="ru-RU" altLang="en-US" sz="4400">
              <a:solidFill>
                <a:schemeClr val="bg1"/>
              </a:solidFill>
              <a:latin typeface="Times New Roman" panose="02020603050405020304" charset="0"/>
              <a:cs typeface="Times New Roman" panose="02020603050405020304" charset="0"/>
            </a:endParaRPr>
          </a:p>
        </p:txBody>
      </p:sp>
    </p:spTree>
  </p:cSld>
  <p:clrMapOvr>
    <a:masterClrMapping/>
  </p:clrMapOvr>
</p:sld>
</file>

<file path=ppt/tags/tag1.xml><?xml version="1.0" encoding="utf-8"?>
<p:tagLst xmlns:p="http://schemas.openxmlformats.org/presentationml/2006/main">
  <p:tag name="KSO_WM_DIAGRAM_VIRTUALLY_FRAME" val="{&quot;height&quot;:484.24062992125994,&quot;left&quot;:40.45314960629921,&quot;top&quot;:68.80314960629921,&quot;width&quot;:1097.0937007874018}"/>
</p:tagLst>
</file>

<file path=ppt/tags/tag2.xml><?xml version="1.0" encoding="utf-8"?>
<p:tagLst xmlns:p="http://schemas.openxmlformats.org/presentationml/2006/main">
  <p:tag name="KSO_WM_DIAGRAM_VIRTUALLY_FRAME" val="{&quot;height&quot;:484.24062992125994,&quot;left&quot;:40.45314960629921,&quot;top&quot;:68.80314960629921,&quot;width&quot;:1097.0937007874018}"/>
</p:tagLst>
</file>

<file path=ppt/tags/tag3.xml><?xml version="1.0" encoding="utf-8"?>
<p:tagLst xmlns:p="http://schemas.openxmlformats.org/presentationml/2006/main">
  <p:tag name="KSO_WM_DIAGRAM_VIRTUALLY_FRAME" val="{&quot;height&quot;:484.24062992125994,&quot;left&quot;:40.45314960629921,&quot;top&quot;:68.80314960629921,&quot;width&quot;:1097.0937007874018}"/>
</p:tagLst>
</file>

<file path=ppt/tags/tag4.xml><?xml version="1.0" encoding="utf-8"?>
<p:tagLst xmlns:p="http://schemas.openxmlformats.org/presentationml/2006/main">
  <p:tag name="KSO_WM_DIAGRAM_VIRTUALLY_FRAME" val="{&quot;height&quot;:484.24062992125994,&quot;left&quot;:40.45314960629921,&quot;top&quot;:68.80314960629921,&quot;width&quot;:1097.0937007874018}"/>
</p:tagLst>
</file>

<file path=ppt/tags/tag5.xml><?xml version="1.0" encoding="utf-8"?>
<p:tagLst xmlns:p="http://schemas.openxmlformats.org/presentationml/2006/main">
  <p:tag name="KSO_WM_DIAGRAM_VIRTUALLY_FRAME" val="{&quot;height&quot;:484.24062992125994,&quot;left&quot;:40.45314960629921,&quot;top&quot;:68.80314960629921,&quot;width&quot;:1097.0937007874018}"/>
</p:tagLst>
</file>

<file path=ppt/tags/tag6.xml><?xml version="1.0" encoding="utf-8"?>
<p:tagLst xmlns:p="http://schemas.openxmlformats.org/presentationml/2006/main">
  <p:tag name="KSO_WM_DIAGRAM_VIRTUALLY_FRAME" val="{&quot;height&quot;:484.24062992125994,&quot;left&quot;:40.45314960629921,&quot;top&quot;:68.80314960629921,&quot;width&quot;:1097.0937007874018}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3756</Words>
  <Application>WPS Presentation</Application>
  <PresentationFormat>On-screen Show (16:9)</PresentationFormat>
  <Paragraphs>186</Paragraphs>
  <Slides>11</Slides>
  <Notes>10</Notes>
  <HiddenSlides>0</HiddenSlides>
  <MMClips>0</MMClips>
  <ScaleCrop>false</ScaleCrop>
  <HeadingPairs>
    <vt:vector size="6" baseType="variant">
      <vt:variant>
        <vt:lpstr>已用的字体</vt:lpstr>
      </vt:variant>
      <vt:variant>
        <vt:i4>21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11</vt:i4>
      </vt:variant>
    </vt:vector>
  </HeadingPairs>
  <TitlesOfParts>
    <vt:vector size="33" baseType="lpstr">
      <vt:lpstr>Arial</vt:lpstr>
      <vt:lpstr>SimSun</vt:lpstr>
      <vt:lpstr>Wingdings</vt:lpstr>
      <vt:lpstr>Roboto Slab</vt:lpstr>
      <vt:lpstr>Roboto Slab</vt:lpstr>
      <vt:lpstr>Roboto Slab</vt:lpstr>
      <vt:lpstr>Roboto</vt:lpstr>
      <vt:lpstr>Roboto</vt:lpstr>
      <vt:lpstr>Roboto</vt:lpstr>
      <vt:lpstr>Roboto Bold</vt:lpstr>
      <vt:lpstr>Liberation Mono</vt:lpstr>
      <vt:lpstr>Roboto Bold</vt:lpstr>
      <vt:lpstr>Roboto Bold</vt:lpstr>
      <vt:lpstr>Consolas</vt:lpstr>
      <vt:lpstr>Consolas</vt:lpstr>
      <vt:lpstr>Consolas</vt:lpstr>
      <vt:lpstr>Calibri</vt:lpstr>
      <vt:lpstr>Microsoft YaHei</vt:lpstr>
      <vt:lpstr>Arial Unicode MS</vt:lpstr>
      <vt:lpstr>MingLiU-ExtB</vt:lpstr>
      <vt:lpstr>Times New Roman</vt:lpstr>
      <vt:lpstr>Office Theme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lastModifiedBy>The Levtoon</cp:lastModifiedBy>
  <cp:revision>3</cp:revision>
  <dcterms:created xsi:type="dcterms:W3CDTF">2026-05-03T10:15:00Z</dcterms:created>
  <dcterms:modified xsi:type="dcterms:W3CDTF">2026-05-03T10:25:33Z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A81B9FAD876C467ABAF832D77B63C1C9_13</vt:lpwstr>
  </property>
  <property fmtid="{D5CDD505-2E9C-101B-9397-08002B2CF9AE}" pid="3" name="KSOProductBuildVer">
    <vt:lpwstr>1049-12.2.0.23202</vt:lpwstr>
  </property>
</Properties>
</file>