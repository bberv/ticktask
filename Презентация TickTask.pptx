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0.svg" ContentType="image/svg+xml"/>
  <Override PartName="/ppt/media/image12.svg" ContentType="image/svg+xml"/>
  <Override PartName="/ppt/media/image14.svg" ContentType="image/svg+xml"/>
  <Override PartName="/ppt/media/image24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4630400" cy="8229600"/>
  <p:notesSz cx="8229600" cy="14630400"/>
  <p:embeddedFontLst>
    <p:embeddedFont>
      <p:font typeface="Roboto Slab" pitchFamily="34" charset="0"/>
      <p:bold r:id="rId18"/>
    </p:embeddedFont>
    <p:embeddedFont>
      <p:font typeface="Roboto Slab" pitchFamily="34" charset="-122"/>
      <p:bold r:id="rId19"/>
    </p:embeddedFont>
    <p:embeddedFont>
      <p:font typeface="Roboto Slab" pitchFamily="34" charset="-120"/>
      <p:bold r:id="rId20"/>
    </p:embeddedFont>
    <p:embeddedFont>
      <p:font typeface="Roboto" panose="02000000000000000000" pitchFamily="34" charset="0"/>
      <p:regular r:id="rId21"/>
    </p:embeddedFont>
    <p:embeddedFont>
      <p:font typeface="Roboto" panose="02000000000000000000" pitchFamily="34" charset="-122"/>
      <p:regular r:id="rId22"/>
    </p:embeddedFont>
    <p:embeddedFont>
      <p:font typeface="Roboto" panose="02000000000000000000" pitchFamily="34" charset="-120"/>
      <p:regular r:id="rId23"/>
    </p:embeddedFont>
    <p:embeddedFont>
      <p:font typeface="Consolas" panose="020B0609020204030204" pitchFamily="34" charset="0"/>
      <p:regular r:id="rId24"/>
      <p:bold r:id="rId25"/>
      <p:italic r:id="rId26"/>
      <p:boldItalic r:id="rId27"/>
    </p:embeddedFont>
    <p:embeddedFont>
      <p:font typeface="Consolas" panose="020B0609020204030204" pitchFamily="34" charset="-122"/>
      <p:regular r:id="rId28"/>
    </p:embeddedFont>
    <p:embeddedFont>
      <p:font typeface="Consolas" panose="020B0609020204030204" pitchFamily="34" charset="-120"/>
      <p:regular r:id="rId29"/>
    </p:embeddedFont>
    <p:embeddedFont>
      <p:font typeface="Calibri" panose="020F0502020204030204" charset="0"/>
      <p:regular r:id="rId30"/>
      <p:bold r:id="rId31"/>
      <p:italic r:id="rId32"/>
      <p:boldItalic r:id="rId3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font" Target="fonts/font16.fntdata"/><Relationship Id="rId32" Type="http://schemas.openxmlformats.org/officeDocument/2006/relationships/font" Target="fonts/font15.fntdata"/><Relationship Id="rId31" Type="http://schemas.openxmlformats.org/officeDocument/2006/relationships/font" Target="fonts/font14.fntdata"/><Relationship Id="rId30" Type="http://schemas.openxmlformats.org/officeDocument/2006/relationships/font" Target="fonts/font13.fntdata"/><Relationship Id="rId3" Type="http://schemas.openxmlformats.org/officeDocument/2006/relationships/slide" Target="slides/slide1.xml"/><Relationship Id="rId29" Type="http://schemas.openxmlformats.org/officeDocument/2006/relationships/font" Target="fonts/font12.fntdata"/><Relationship Id="rId28" Type="http://schemas.openxmlformats.org/officeDocument/2006/relationships/font" Target="fonts/font11.fntdata"/><Relationship Id="rId27" Type="http://schemas.openxmlformats.org/officeDocument/2006/relationships/font" Target="fonts/font10.fntdata"/><Relationship Id="rId26" Type="http://schemas.openxmlformats.org/officeDocument/2006/relationships/font" Target="fonts/font9.fntdata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5" Type="http://schemas.openxmlformats.org/officeDocument/2006/relationships/notesSlide" Target="../notesSlides/notesSlide4.xml"/><Relationship Id="rId14" Type="http://schemas.openxmlformats.org/officeDocument/2006/relationships/slideLayout" Target="../slideLayouts/slideLayout5.xml"/><Relationship Id="rId13" Type="http://schemas.openxmlformats.org/officeDocument/2006/relationships/image" Target="../media/image14.svg"/><Relationship Id="rId12" Type="http://schemas.openxmlformats.org/officeDocument/2006/relationships/image" Target="../media/image13.png"/><Relationship Id="rId11" Type="http://schemas.openxmlformats.org/officeDocument/2006/relationships/image" Target="../media/image12.svg"/><Relationship Id="rId10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8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4.sv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209562"/>
            <a:ext cx="7556421" cy="212633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Интеллектуальный менеджер задач «TickTask»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76061"/>
            <a:ext cx="75564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Автоматизация планирования с помощью искусственного интеллекта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657017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Авторы:</a:t>
            </a:r>
            <a:r>
              <a:rPr lang="en-US" sz="17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Солодков Лев, Мельник Павел  |  </a:t>
            </a:r>
            <a:r>
              <a:rPr lang="en-US" sz="1750" b="1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Год:</a:t>
            </a:r>
            <a:r>
              <a:rPr lang="en-US" sz="17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2026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73079"/>
            <a:ext cx="615648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Актуальность и цель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2822019"/>
            <a:ext cx="6571417" cy="3634502"/>
          </a:xfrm>
          <a:prstGeom prst="roundRect">
            <a:avLst>
              <a:gd name="adj" fmla="val 936"/>
            </a:avLst>
          </a:prstGeom>
          <a:solidFill>
            <a:srgbClr val="0D0A2C"/>
          </a:solidFill>
        </p:spPr>
      </p:sp>
      <p:sp>
        <p:nvSpPr>
          <p:cNvPr id="4" name="Text 2"/>
          <p:cNvSpPr/>
          <p:nvPr/>
        </p:nvSpPr>
        <p:spPr>
          <a:xfrm>
            <a:off x="857250" y="3048833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Проблема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3629978"/>
            <a:ext cx="6117788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Обычные списки дел быстро переполняются, а ручная сортировка задач по категориям и важности занимает много времени.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048833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Цель проекта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3629978"/>
            <a:ext cx="6244709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Создать веб-приложение, которое само анализирует текст задачи, выставляет приоритеты и составляет оптимальный план дня.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494549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Зачем это нужно?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5526643"/>
            <a:ext cx="624470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Чтобы пользователь тратил время на </a:t>
            </a:r>
            <a:r>
              <a:rPr lang="en-US" sz="1750" b="1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выполнение дел</a:t>
            </a:r>
            <a:r>
              <a:rPr lang="en-US" sz="17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, а не на их сортировку.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4628" y="537091"/>
            <a:ext cx="4695944" cy="5869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Задачи проекта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834628" y="1435179"/>
            <a:ext cx="12961025" cy="1127046"/>
          </a:xfrm>
          <a:prstGeom prst="roundRect">
            <a:avLst>
              <a:gd name="adj" fmla="val 2500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7488" y="1458039"/>
            <a:ext cx="751284" cy="1081326"/>
          </a:xfrm>
          <a:prstGeom prst="roundRect">
            <a:avLst>
              <a:gd name="adj" fmla="val 99"/>
            </a:avLst>
          </a:prstGeom>
          <a:solidFill>
            <a:srgbClr val="3F4652"/>
          </a:solidFill>
        </p:spPr>
      </p:sp>
      <p:sp>
        <p:nvSpPr>
          <p:cNvPr id="5" name="Text 3"/>
          <p:cNvSpPr/>
          <p:nvPr/>
        </p:nvSpPr>
        <p:spPr>
          <a:xfrm>
            <a:off x="1092279" y="1822609"/>
            <a:ext cx="281702" cy="3521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64268" y="1645801"/>
            <a:ext cx="2347912" cy="2934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Авторизация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64268" y="2032516"/>
            <a:ext cx="11820763" cy="2746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Реализовать систему регистрации и личных кабинетов.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34628" y="2717721"/>
            <a:ext cx="12961025" cy="1127046"/>
          </a:xfrm>
          <a:prstGeom prst="roundRect">
            <a:avLst>
              <a:gd name="adj" fmla="val 2500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7488" y="2740581"/>
            <a:ext cx="751284" cy="1081326"/>
          </a:xfrm>
          <a:prstGeom prst="roundRect">
            <a:avLst>
              <a:gd name="adj" fmla="val 99"/>
            </a:avLst>
          </a:prstGeom>
          <a:solidFill>
            <a:srgbClr val="3F4652"/>
          </a:solidFill>
        </p:spPr>
      </p:sp>
      <p:sp>
        <p:nvSpPr>
          <p:cNvPr id="10" name="Text 8"/>
          <p:cNvSpPr/>
          <p:nvPr/>
        </p:nvSpPr>
        <p:spPr>
          <a:xfrm>
            <a:off x="1092279" y="3105150"/>
            <a:ext cx="281702" cy="3521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64268" y="2928342"/>
            <a:ext cx="2347912" cy="2934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Нейросеть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64268" y="3315057"/>
            <a:ext cx="11820763" cy="2746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Интегрировать нейросеть Llama-3 для анализа текста задач.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34628" y="4000262"/>
            <a:ext cx="12961025" cy="1127046"/>
          </a:xfrm>
          <a:prstGeom prst="roundRect">
            <a:avLst>
              <a:gd name="adj" fmla="val 2500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7488" y="4023122"/>
            <a:ext cx="751284" cy="1081326"/>
          </a:xfrm>
          <a:prstGeom prst="roundRect">
            <a:avLst>
              <a:gd name="adj" fmla="val 99"/>
            </a:avLst>
          </a:prstGeom>
          <a:solidFill>
            <a:srgbClr val="3F4652"/>
          </a:solidFill>
        </p:spPr>
      </p:sp>
      <p:sp>
        <p:nvSpPr>
          <p:cNvPr id="15" name="Text 13"/>
          <p:cNvSpPr/>
          <p:nvPr/>
        </p:nvSpPr>
        <p:spPr>
          <a:xfrm>
            <a:off x="1092279" y="4387691"/>
            <a:ext cx="281702" cy="3521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764268" y="4210883"/>
            <a:ext cx="2347912" cy="2934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Алгоритм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64268" y="4597598"/>
            <a:ext cx="11820763" cy="2746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Разработать алгоритм автоматического планирования дня.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34628" y="5282803"/>
            <a:ext cx="12961025" cy="1127046"/>
          </a:xfrm>
          <a:prstGeom prst="roundRect">
            <a:avLst>
              <a:gd name="adj" fmla="val 2500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7488" y="5305663"/>
            <a:ext cx="751284" cy="1081326"/>
          </a:xfrm>
          <a:prstGeom prst="roundRect">
            <a:avLst>
              <a:gd name="adj" fmla="val 99"/>
            </a:avLst>
          </a:prstGeom>
          <a:solidFill>
            <a:srgbClr val="3F4652"/>
          </a:solidFill>
        </p:spPr>
      </p:sp>
      <p:sp>
        <p:nvSpPr>
          <p:cNvPr id="20" name="Text 18"/>
          <p:cNvSpPr/>
          <p:nvPr/>
        </p:nvSpPr>
        <p:spPr>
          <a:xfrm>
            <a:off x="1092279" y="5670233"/>
            <a:ext cx="281702" cy="3521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764268" y="5493425"/>
            <a:ext cx="2347912" cy="2934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База данных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64268" y="5880140"/>
            <a:ext cx="11820763" cy="2746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Создать БД для хранения задач и прикреплённых файлов.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34628" y="6565344"/>
            <a:ext cx="12961025" cy="1127046"/>
          </a:xfrm>
          <a:prstGeom prst="roundRect">
            <a:avLst>
              <a:gd name="adj" fmla="val 2500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7488" y="6588204"/>
            <a:ext cx="751284" cy="1081326"/>
          </a:xfrm>
          <a:prstGeom prst="roundRect">
            <a:avLst>
              <a:gd name="adj" fmla="val 99"/>
            </a:avLst>
          </a:prstGeom>
          <a:solidFill>
            <a:srgbClr val="3F4652"/>
          </a:solidFill>
        </p:spPr>
      </p:sp>
      <p:sp>
        <p:nvSpPr>
          <p:cNvPr id="25" name="Text 23"/>
          <p:cNvSpPr/>
          <p:nvPr/>
        </p:nvSpPr>
        <p:spPr>
          <a:xfrm>
            <a:off x="1092279" y="6952774"/>
            <a:ext cx="281702" cy="3521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764268" y="6775966"/>
            <a:ext cx="2347912" cy="2934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Интерфейс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764268" y="7162681"/>
            <a:ext cx="11820763" cy="2746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Спроектировать адаптивный интерфейс для ПК и телефона.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561142"/>
            <a:ext cx="6698932" cy="6312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Инструменты разработки</a:t>
            </a:r>
            <a:endParaRPr lang="en-US" sz="3950" dirty="0"/>
          </a:p>
        </p:txBody>
      </p:sp>
      <p:sp>
        <p:nvSpPr>
          <p:cNvPr id="3" name="Shape 1"/>
          <p:cNvSpPr/>
          <p:nvPr/>
        </p:nvSpPr>
        <p:spPr>
          <a:xfrm>
            <a:off x="706993" y="1552218"/>
            <a:ext cx="6518196" cy="1918811"/>
          </a:xfrm>
          <a:prstGeom prst="roundRect">
            <a:avLst>
              <a:gd name="adj" fmla="val 1579"/>
            </a:avLst>
          </a:prstGeom>
          <a:solidFill>
            <a:srgbClr val="3F4652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23" y="1754148"/>
            <a:ext cx="606028" cy="60602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611" y="1920716"/>
            <a:ext cx="272653" cy="27265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08923" y="2540079"/>
            <a:ext cx="2525197" cy="3156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Python 3.12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908923" y="2963585"/>
            <a:ext cx="6114336" cy="3055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Основной язык программирования</a:t>
            </a:r>
            <a:endParaRPr lang="en-US" sz="1550" dirty="0"/>
          </a:p>
        </p:txBody>
      </p:sp>
      <p:sp>
        <p:nvSpPr>
          <p:cNvPr id="8" name="Shape 4"/>
          <p:cNvSpPr/>
          <p:nvPr/>
        </p:nvSpPr>
        <p:spPr>
          <a:xfrm>
            <a:off x="7405092" y="1552218"/>
            <a:ext cx="6518315" cy="1918811"/>
          </a:xfrm>
          <a:prstGeom prst="roundRect">
            <a:avLst>
              <a:gd name="adj" fmla="val 1579"/>
            </a:avLst>
          </a:prstGeom>
          <a:solidFill>
            <a:srgbClr val="3F4652"/>
          </a:solidFill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022" y="1754148"/>
            <a:ext cx="606028" cy="606028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73710" y="1920716"/>
            <a:ext cx="272653" cy="27265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07022" y="2540079"/>
            <a:ext cx="2525197" cy="3156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Flask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7607022" y="2963585"/>
            <a:ext cx="6114455" cy="3055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Веб-фреймворк (Backend)</a:t>
            </a:r>
            <a:endParaRPr lang="en-US" sz="1550" dirty="0"/>
          </a:p>
        </p:txBody>
      </p:sp>
      <p:sp>
        <p:nvSpPr>
          <p:cNvPr id="13" name="Shape 7"/>
          <p:cNvSpPr/>
          <p:nvPr/>
        </p:nvSpPr>
        <p:spPr>
          <a:xfrm>
            <a:off x="706993" y="3650933"/>
            <a:ext cx="6518196" cy="1918811"/>
          </a:xfrm>
          <a:prstGeom prst="roundRect">
            <a:avLst>
              <a:gd name="adj" fmla="val 1579"/>
            </a:avLst>
          </a:prstGeom>
          <a:solidFill>
            <a:srgbClr val="3F4652"/>
          </a:solidFill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923" y="3852863"/>
            <a:ext cx="606028" cy="606028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5611" y="4019431"/>
            <a:ext cx="272653" cy="272653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08923" y="4638794"/>
            <a:ext cx="2567702" cy="3156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SQLite + SQLAlchemy</a:t>
            </a:r>
            <a:endParaRPr lang="en-US" sz="1950" dirty="0"/>
          </a:p>
        </p:txBody>
      </p:sp>
      <p:sp>
        <p:nvSpPr>
          <p:cNvPr id="17" name="Text 9"/>
          <p:cNvSpPr/>
          <p:nvPr/>
        </p:nvSpPr>
        <p:spPr>
          <a:xfrm>
            <a:off x="908923" y="5062299"/>
            <a:ext cx="6114336" cy="3055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База данных и ORM</a:t>
            </a:r>
            <a:endParaRPr lang="en-US" sz="1550" dirty="0"/>
          </a:p>
        </p:txBody>
      </p:sp>
      <p:sp>
        <p:nvSpPr>
          <p:cNvPr id="18" name="Shape 10"/>
          <p:cNvSpPr/>
          <p:nvPr/>
        </p:nvSpPr>
        <p:spPr>
          <a:xfrm>
            <a:off x="7405092" y="3650933"/>
            <a:ext cx="6518315" cy="1918811"/>
          </a:xfrm>
          <a:prstGeom prst="roundRect">
            <a:avLst>
              <a:gd name="adj" fmla="val 1579"/>
            </a:avLst>
          </a:prstGeom>
          <a:solidFill>
            <a:srgbClr val="3F4652"/>
          </a:solidFill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7022" y="3852863"/>
            <a:ext cx="606028" cy="606028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73710" y="4019431"/>
            <a:ext cx="272653" cy="272653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607022" y="4638794"/>
            <a:ext cx="2525197" cy="3156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Groq API / Llama-3.3</a:t>
            </a:r>
            <a:endParaRPr lang="en-US" sz="1950" dirty="0"/>
          </a:p>
        </p:txBody>
      </p:sp>
      <p:sp>
        <p:nvSpPr>
          <p:cNvPr id="22" name="Text 12"/>
          <p:cNvSpPr/>
          <p:nvPr/>
        </p:nvSpPr>
        <p:spPr>
          <a:xfrm>
            <a:off x="7607022" y="5062299"/>
            <a:ext cx="6114455" cy="3055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Искусственный интеллект</a:t>
            </a:r>
            <a:endParaRPr lang="en-US" sz="1550" dirty="0"/>
          </a:p>
        </p:txBody>
      </p:sp>
      <p:sp>
        <p:nvSpPr>
          <p:cNvPr id="23" name="Shape 13"/>
          <p:cNvSpPr/>
          <p:nvPr/>
        </p:nvSpPr>
        <p:spPr>
          <a:xfrm>
            <a:off x="706993" y="5749647"/>
            <a:ext cx="6518196" cy="1918811"/>
          </a:xfrm>
          <a:prstGeom prst="roundRect">
            <a:avLst>
              <a:gd name="adj" fmla="val 1579"/>
            </a:avLst>
          </a:prstGeom>
          <a:solidFill>
            <a:srgbClr val="3F4652"/>
          </a:solidFill>
        </p:spPr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8923" y="5951577"/>
            <a:ext cx="606028" cy="606028"/>
          </a:xfrm>
          <a:prstGeom prst="rect">
            <a:avLst/>
          </a:prstGeom>
        </p:spPr>
      </p:pic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5611" y="6118146"/>
            <a:ext cx="272653" cy="272653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908923" y="6737509"/>
            <a:ext cx="2525197" cy="3156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Bootstrap 5 + Jinja2</a:t>
            </a:r>
            <a:endParaRPr lang="en-US" sz="1950" dirty="0"/>
          </a:p>
        </p:txBody>
      </p:sp>
      <p:sp>
        <p:nvSpPr>
          <p:cNvPr id="27" name="Text 15"/>
          <p:cNvSpPr/>
          <p:nvPr/>
        </p:nvSpPr>
        <p:spPr>
          <a:xfrm>
            <a:off x="908923" y="7161014"/>
            <a:ext cx="6114336" cy="3055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Фронтенд и шаблонизатор</a:t>
            </a:r>
            <a:endParaRPr lang="en-US" sz="1550" dirty="0"/>
          </a:p>
        </p:txBody>
      </p:sp>
      <p:sp>
        <p:nvSpPr>
          <p:cNvPr id="28" name="Shape 16"/>
          <p:cNvSpPr/>
          <p:nvPr/>
        </p:nvSpPr>
        <p:spPr>
          <a:xfrm>
            <a:off x="7405092" y="5749647"/>
            <a:ext cx="6518315" cy="1918811"/>
          </a:xfrm>
          <a:prstGeom prst="roundRect">
            <a:avLst>
              <a:gd name="adj" fmla="val 1579"/>
            </a:avLst>
          </a:prstGeom>
          <a:solidFill>
            <a:srgbClr val="3F4652"/>
          </a:solidFill>
        </p:spPr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07022" y="5951577"/>
            <a:ext cx="606028" cy="606028"/>
          </a:xfrm>
          <a:prstGeom prst="rect">
            <a:avLst/>
          </a:prstGeom>
        </p:spPr>
      </p:pic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773710" y="6118146"/>
            <a:ext cx="272653" cy="272653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7607022" y="6737509"/>
            <a:ext cx="2525197" cy="3156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PyCharm</a:t>
            </a:r>
            <a:endParaRPr lang="en-US" sz="1950" dirty="0"/>
          </a:p>
        </p:txBody>
      </p:sp>
      <p:sp>
        <p:nvSpPr>
          <p:cNvPr id="32" name="Text 18"/>
          <p:cNvSpPr/>
          <p:nvPr/>
        </p:nvSpPr>
        <p:spPr>
          <a:xfrm>
            <a:off x="7607022" y="7161014"/>
            <a:ext cx="6114455" cy="3055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Среда разработки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2228" y="592693"/>
            <a:ext cx="5535097" cy="6091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Описание программы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682228" y="1453039"/>
            <a:ext cx="7779544" cy="1420416"/>
          </a:xfrm>
          <a:prstGeom prst="roundRect">
            <a:avLst>
              <a:gd name="adj" fmla="val 7725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68" y="1453039"/>
            <a:ext cx="91440" cy="142041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8573" y="1670804"/>
            <a:ext cx="3201829" cy="3045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Fullstack веб-приложение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968573" y="2075855"/>
            <a:ext cx="7275433" cy="57983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TickTask — полноценное веб-приложение с серверной и клиентской частью, доступное с любого устройства.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82228" y="3040856"/>
            <a:ext cx="7779544" cy="1420416"/>
          </a:xfrm>
          <a:prstGeom prst="roundRect">
            <a:avLst>
              <a:gd name="adj" fmla="val 7725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68" y="3040856"/>
            <a:ext cx="91440" cy="142041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8573" y="3258622"/>
            <a:ext cx="2436614" cy="3045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Умный ввод задач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968573" y="3663672"/>
            <a:ext cx="7275433" cy="57983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Пользователь вводит задачу одной фразой. Система «на лету» понимает контекст: отделяет работу от учёбы, понимает дедлайны и сложность.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82228" y="4628674"/>
            <a:ext cx="7779544" cy="1420416"/>
          </a:xfrm>
          <a:prstGeom prst="roundRect">
            <a:avLst>
              <a:gd name="adj" fmla="val 7725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68" y="4628674"/>
            <a:ext cx="91440" cy="142041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8573" y="4846439"/>
            <a:ext cx="3244096" cy="3045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Облачная синхронизация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968573" y="5251490"/>
            <a:ext cx="7275433" cy="57983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Все данные синхронизируются в облаке и доступны после авторизации с любого устройства.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682228" y="6216491"/>
            <a:ext cx="7779544" cy="1420416"/>
          </a:xfrm>
          <a:prstGeom prst="roundRect">
            <a:avLst>
              <a:gd name="adj" fmla="val 7725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68" y="6216491"/>
            <a:ext cx="91440" cy="142041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68573" y="6434257"/>
            <a:ext cx="3608546" cy="3045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Статистика продуктивности</a:t>
            </a:r>
            <a:endParaRPr lang="en-US" sz="1900" dirty="0"/>
          </a:p>
        </p:txBody>
      </p:sp>
      <p:sp>
        <p:nvSpPr>
          <p:cNvPr id="19" name="Text 12"/>
          <p:cNvSpPr/>
          <p:nvPr/>
        </p:nvSpPr>
        <p:spPr>
          <a:xfrm>
            <a:off x="968573" y="6839307"/>
            <a:ext cx="7275433" cy="57983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Дополнительно реализована система статистики, позволяющая отслеживать эффективность работы.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6905" y="579358"/>
            <a:ext cx="4607362" cy="5759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Алгоритм работы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905" y="1454706"/>
            <a:ext cx="12716470" cy="54928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55404" y="5247917"/>
            <a:ext cx="1359915" cy="3668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AI-запрос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3991368" y="5701859"/>
            <a:ext cx="1888176" cy="7479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Отправка текста задачи в Llama 3, полчение JSON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006317" y="5342488"/>
            <a:ext cx="1554788" cy="2567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7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Ранжирование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839719" y="5701859"/>
            <a:ext cx="1888176" cy="7479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Сортировка задач по важности (3→1)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573212" y="1950344"/>
            <a:ext cx="1888176" cy="3438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Ввод данных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573212" y="2392058"/>
            <a:ext cx="1888176" cy="9972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Пользователь пишет заголовок и описание задачи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1376902" y="1938116"/>
            <a:ext cx="1505879" cy="2567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7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Планирование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1058525" y="2297430"/>
            <a:ext cx="2141855" cy="9975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ИИ формирует логичную последовательность дня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445634" y="1950344"/>
            <a:ext cx="1888176" cy="3438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Обработка</a:t>
            </a:r>
            <a:endParaRPr lang="en-US" sz="2150" dirty="0"/>
          </a:p>
        </p:txBody>
      </p:sp>
      <p:sp>
        <p:nvSpPr>
          <p:cNvPr id="13" name="Text 10"/>
          <p:cNvSpPr/>
          <p:nvPr/>
        </p:nvSpPr>
        <p:spPr>
          <a:xfrm>
            <a:off x="6445634" y="2392058"/>
            <a:ext cx="1888176" cy="9972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Извлечение категории, приоритета, времени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956905" y="7115889"/>
            <a:ext cx="12716470" cy="534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Каждый шаг алгоритма обеспечивает точную обработку задачи: от ввода текста пользователем до формирования готового плана дня с учётом приоритетов и временных рамок.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3095" y="252055"/>
            <a:ext cx="7001947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Интерфейс приложения</a:t>
            </a:r>
            <a:endParaRPr lang="en-US" sz="4450" dirty="0"/>
          </a:p>
        </p:txBody>
      </p:sp>
      <p:sp>
        <p:nvSpPr>
          <p:cNvPr id="4" name="Text 1"/>
          <p:cNvSpPr/>
          <p:nvPr>
            <p:custDataLst>
              <p:tags r:id="rId1"/>
            </p:custDataLst>
          </p:nvPr>
        </p:nvSpPr>
        <p:spPr>
          <a:xfrm>
            <a:off x="513755" y="393767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Авторизация</a:t>
            </a:r>
            <a:endParaRPr lang="en-US" sz="2200" dirty="0"/>
          </a:p>
        </p:txBody>
      </p:sp>
      <p:sp>
        <p:nvSpPr>
          <p:cNvPr id="5" name="Text 2"/>
          <p:cNvSpPr/>
          <p:nvPr>
            <p:custDataLst>
              <p:tags r:id="rId2"/>
            </p:custDataLst>
          </p:nvPr>
        </p:nvSpPr>
        <p:spPr>
          <a:xfrm>
            <a:off x="513755" y="4428093"/>
            <a:ext cx="415861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Лаконичная форма входа и регистрации, защищающая данные каждого пользователя.</a:t>
            </a:r>
            <a:endParaRPr lang="en-US" sz="1750" dirty="0"/>
          </a:p>
        </p:txBody>
      </p:sp>
      <p:sp>
        <p:nvSpPr>
          <p:cNvPr id="7" name="Text 3"/>
          <p:cNvSpPr/>
          <p:nvPr>
            <p:custDataLst>
              <p:tags r:id="rId3"/>
            </p:custDataLst>
          </p:nvPr>
        </p:nvSpPr>
        <p:spPr>
          <a:xfrm>
            <a:off x="4573588" y="5026700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Главная страница</a:t>
            </a:r>
            <a:endParaRPr lang="en-US" sz="2200" dirty="0"/>
          </a:p>
        </p:txBody>
      </p:sp>
      <p:sp>
        <p:nvSpPr>
          <p:cNvPr id="8" name="Text 4"/>
          <p:cNvSpPr/>
          <p:nvPr>
            <p:custDataLst>
              <p:tags r:id="rId4"/>
            </p:custDataLst>
          </p:nvPr>
        </p:nvSpPr>
        <p:spPr>
          <a:xfrm>
            <a:off x="4573588" y="5517118"/>
            <a:ext cx="415861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Список карточек задач с иконками важности и кнопками создания задачи и плана дня.</a:t>
            </a:r>
            <a:endParaRPr lang="en-US" sz="1750" dirty="0"/>
          </a:p>
        </p:txBody>
      </p:sp>
      <p:sp>
        <p:nvSpPr>
          <p:cNvPr id="10" name="Text 5"/>
          <p:cNvSpPr/>
          <p:nvPr>
            <p:custDataLst>
              <p:tags r:id="rId5"/>
            </p:custDataLst>
          </p:nvPr>
        </p:nvSpPr>
        <p:spPr>
          <a:xfrm>
            <a:off x="10288230" y="310201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Умное расписание</a:t>
            </a:r>
            <a:endParaRPr lang="en-US" sz="2200" dirty="0"/>
          </a:p>
        </p:txBody>
      </p:sp>
      <p:sp>
        <p:nvSpPr>
          <p:cNvPr id="11" name="Text 6"/>
          <p:cNvSpPr/>
          <p:nvPr>
            <p:custDataLst>
              <p:tags r:id="rId6"/>
            </p:custDataLst>
          </p:nvPr>
        </p:nvSpPr>
        <p:spPr>
          <a:xfrm>
            <a:off x="10288230" y="3592433"/>
            <a:ext cx="415861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Текстовый план дня, сгенерированный нейросетью Llama-3 с учётом приоритетов и времени.</a:t>
            </a:r>
            <a:endParaRPr lang="en-US" sz="1750" dirty="0"/>
          </a:p>
        </p:txBody>
      </p:sp>
      <p:pic>
        <p:nvPicPr>
          <p:cNvPr id="13" name="Изображение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6373" y="4799330"/>
            <a:ext cx="5258435" cy="2523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Изображение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960755"/>
            <a:ext cx="5860415" cy="2795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Изображение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74883" y="2462848"/>
            <a:ext cx="5258435" cy="25101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657344"/>
            <a:ext cx="5582007" cy="69770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Фрагмент кода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81407" y="1794629"/>
            <a:ext cx="13067586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Сердце программы — функция связи с ИИ, которая позволяет приложению «понимать» человеческий язык и структурировать его: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81407" y="2750463"/>
            <a:ext cx="13067586" cy="3281124"/>
          </a:xfrm>
          <a:prstGeom prst="roundRect">
            <a:avLst>
              <a:gd name="adj" fmla="val 1021"/>
            </a:avLst>
          </a:prstGeom>
          <a:solidFill>
            <a:srgbClr val="2D3440"/>
          </a:solidFill>
        </p:spPr>
      </p:sp>
      <p:sp>
        <p:nvSpPr>
          <p:cNvPr id="5" name="Shape 3"/>
          <p:cNvSpPr/>
          <p:nvPr/>
        </p:nvSpPr>
        <p:spPr>
          <a:xfrm>
            <a:off x="770334" y="2750463"/>
            <a:ext cx="13089731" cy="3281124"/>
          </a:xfrm>
          <a:prstGeom prst="roundRect">
            <a:avLst>
              <a:gd name="adj" fmla="val 1021"/>
            </a:avLst>
          </a:prstGeom>
          <a:solidFill>
            <a:srgbClr val="2D3440"/>
          </a:solidFill>
        </p:spPr>
      </p:sp>
      <p:sp>
        <p:nvSpPr>
          <p:cNvPr id="6" name="Text 4"/>
          <p:cNvSpPr/>
          <p:nvPr/>
        </p:nvSpPr>
        <p:spPr>
          <a:xfrm>
            <a:off x="1049417" y="2973705"/>
            <a:ext cx="12531566" cy="2834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8B949E"/>
                </a:solidFill>
                <a:highlight>
                  <a:srgbClr val="2D3440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Запрос к нейросети для парсинга задачи</a:t>
            </a:r>
            <a:endParaRPr lang="en-US" sz="175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chemeClr val="bg1"/>
                </a:solidFill>
                <a:highlight>
                  <a:srgbClr val="2D3440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response = client.chat.completions.create(</a:t>
            </a:r>
            <a:endParaRPr lang="en-US" sz="1750" dirty="0">
              <a:solidFill>
                <a:schemeClr val="bg1"/>
              </a:solidFill>
            </a:endParaRPr>
          </a:p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chemeClr val="bg1"/>
                </a:solidFill>
                <a:highlight>
                  <a:srgbClr val="2D3440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model=</a:t>
            </a:r>
            <a:r>
              <a:rPr lang="en-US" sz="1750" dirty="0">
                <a:solidFill>
                  <a:schemeClr val="accent1">
                    <a:lumMod val="60000"/>
                    <a:lumOff val="40000"/>
                  </a:schemeClr>
                </a:solidFill>
                <a:highlight>
                  <a:srgbClr val="2D3440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"llama-3.3-70b-versatile"</a:t>
            </a:r>
            <a:r>
              <a:rPr lang="en-US" sz="1750" dirty="0">
                <a:solidFill>
                  <a:schemeClr val="bg1"/>
                </a:solidFill>
                <a:highlight>
                  <a:srgbClr val="2D3440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</a:t>
            </a:r>
            <a:endParaRPr lang="en-US" sz="1750" dirty="0">
              <a:solidFill>
                <a:schemeClr val="bg1"/>
              </a:solidFill>
            </a:endParaRPr>
          </a:p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chemeClr val="bg1"/>
                </a:solidFill>
                <a:highlight>
                  <a:srgbClr val="2D3440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messages=[{</a:t>
            </a:r>
            <a:r>
              <a:rPr lang="en-US" sz="1750" dirty="0">
                <a:solidFill>
                  <a:schemeClr val="accent1">
                    <a:lumMod val="60000"/>
                    <a:lumOff val="40000"/>
                  </a:schemeClr>
                </a:solidFill>
                <a:highlight>
                  <a:srgbClr val="2D3440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"role"</a:t>
            </a:r>
            <a:r>
              <a:rPr lang="en-US" sz="1750" dirty="0">
                <a:solidFill>
                  <a:schemeClr val="bg1"/>
                </a:solidFill>
                <a:highlight>
                  <a:srgbClr val="2D3440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 </a:t>
            </a:r>
            <a:r>
              <a:rPr lang="en-US" sz="1750" dirty="0">
                <a:solidFill>
                  <a:schemeClr val="accent1">
                    <a:lumMod val="60000"/>
                    <a:lumOff val="40000"/>
                  </a:schemeClr>
                </a:solidFill>
                <a:highlight>
                  <a:srgbClr val="2D3440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"user"</a:t>
            </a:r>
            <a:r>
              <a:rPr lang="en-US" sz="1750" dirty="0">
                <a:solidFill>
                  <a:schemeClr val="bg1"/>
                </a:solidFill>
                <a:highlight>
                  <a:srgbClr val="2D3440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</a:t>
            </a:r>
            <a:r>
              <a:rPr lang="en-US" sz="1750" dirty="0">
                <a:solidFill>
                  <a:schemeClr val="accent1">
                    <a:lumMod val="60000"/>
                    <a:lumOff val="40000"/>
                  </a:schemeClr>
                </a:solidFill>
                <a:highlight>
                  <a:srgbClr val="2D3440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"content"</a:t>
            </a:r>
            <a:r>
              <a:rPr lang="en-US" sz="1750" dirty="0">
                <a:solidFill>
                  <a:schemeClr val="bg1"/>
                </a:solidFill>
                <a:highlight>
                  <a:srgbClr val="2D3440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 prompt}],</a:t>
            </a:r>
            <a:endParaRPr lang="en-US" sz="1750" dirty="0">
              <a:solidFill>
                <a:schemeClr val="bg1"/>
              </a:solidFill>
            </a:endParaRPr>
          </a:p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chemeClr val="bg1"/>
                </a:solidFill>
                <a:highlight>
                  <a:srgbClr val="2D3440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response_format={</a:t>
            </a:r>
            <a:r>
              <a:rPr lang="en-US" sz="1750" dirty="0">
                <a:solidFill>
                  <a:schemeClr val="accent1">
                    <a:lumMod val="60000"/>
                    <a:lumOff val="40000"/>
                  </a:schemeClr>
                </a:solidFill>
                <a:highlight>
                  <a:srgbClr val="2D3440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"type"</a:t>
            </a:r>
            <a:r>
              <a:rPr lang="en-US" sz="1750" dirty="0">
                <a:solidFill>
                  <a:schemeClr val="bg1"/>
                </a:solidFill>
                <a:highlight>
                  <a:srgbClr val="2D3440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 </a:t>
            </a:r>
            <a:r>
              <a:rPr lang="en-US" sz="1750" dirty="0">
                <a:solidFill>
                  <a:schemeClr val="accent1">
                    <a:lumMod val="60000"/>
                    <a:lumOff val="40000"/>
                  </a:schemeClr>
                </a:solidFill>
                <a:highlight>
                  <a:srgbClr val="2D3440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"json_object"</a:t>
            </a:r>
            <a:r>
              <a:rPr lang="en-US" sz="1750" dirty="0">
                <a:solidFill>
                  <a:schemeClr val="bg1"/>
                </a:solidFill>
                <a:highlight>
                  <a:srgbClr val="2D3440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750" dirty="0">
              <a:solidFill>
                <a:schemeClr val="bg1"/>
              </a:solidFill>
            </a:endParaRPr>
          </a:p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chemeClr val="bg1"/>
                </a:solidFill>
                <a:highlight>
                  <a:srgbClr val="2D3440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1750" dirty="0">
              <a:solidFill>
                <a:schemeClr val="bg1"/>
              </a:solidFill>
            </a:endParaRPr>
          </a:p>
          <a:p>
            <a:pPr marL="0" indent="0" algn="l">
              <a:lnSpc>
                <a:spcPts val="2750"/>
              </a:lnSpc>
              <a:buNone/>
            </a:pPr>
            <a:endParaRPr lang="en-US" sz="175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8B949E"/>
                </a:solidFill>
                <a:highlight>
                  <a:srgbClr val="2D3440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На выходе получаем готовую категорию и приоритет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81407" y="6278761"/>
            <a:ext cx="13067586" cy="1293495"/>
          </a:xfrm>
          <a:prstGeom prst="roundRect">
            <a:avLst>
              <a:gd name="adj" fmla="val 2589"/>
            </a:avLst>
          </a:prstGeom>
          <a:solidFill>
            <a:srgbClr val="022349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649" y="6613803"/>
            <a:ext cx="279083" cy="2232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6974" y="6554272"/>
            <a:ext cx="12118777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Этот код отправляет текст задачи в Groq API и получает обратно структурированный JSON с категорией, приоритетом и оценкой времени выполнения — всё автоматически, без участия пользователя.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64325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Результаты и тестирование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135392"/>
            <a:ext cx="3636407" cy="7484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9/10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6680716" y="416718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Точность ИИ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80190" y="4657606"/>
            <a:ext cx="3636407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В 9 из 10 случаев нейросеть верно определяет категорию и время выполнения задачи.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200084" y="3135392"/>
            <a:ext cx="3636526" cy="7484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0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10600730" y="416718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Ошибок загрузки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00084" y="4657606"/>
            <a:ext cx="3636526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Загрузка документов проходит без ошибок, пути сохраняются в базе данных.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6001464"/>
            <a:ext cx="7556421" cy="963811"/>
          </a:xfrm>
          <a:prstGeom prst="roundRect">
            <a:avLst>
              <a:gd name="adj" fmla="val 3530"/>
            </a:avLst>
          </a:prstGeom>
          <a:solidFill>
            <a:srgbClr val="183A13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004" y="6345555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17306" y="6284952"/>
            <a:ext cx="659249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Приложение успешно развёрнуто на хостинге.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632817"/>
            <a:ext cx="7071479" cy="675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Вывод, обучение и планы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56642" y="1823561"/>
            <a:ext cx="2702362" cy="337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Что мы освоили</a:t>
            </a:r>
            <a:endParaRPr lang="en-US" sz="2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724" y="2403812"/>
            <a:ext cx="324207" cy="3242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9111" y="2393156"/>
            <a:ext cx="5592366" cy="6755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Работу с веб-фреймворком </a:t>
            </a:r>
            <a:r>
              <a:rPr lang="en-US" sz="1700" b="1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Flask</a:t>
            </a:r>
            <a:r>
              <a:rPr lang="en-US" sz="17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и построение серверной логики.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724" y="3491448"/>
            <a:ext cx="324207" cy="32420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59111" y="3480792"/>
            <a:ext cx="5592366" cy="6755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Проектирование </a:t>
            </a:r>
            <a:r>
              <a:rPr lang="en-US" sz="1700" b="1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реляционных баз данных</a:t>
            </a:r>
            <a:r>
              <a:rPr lang="en-US" sz="17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с использованием SQLAlchemy.</a:t>
            </a:r>
            <a:endParaRPr lang="en-US" sz="17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724" y="4579084"/>
            <a:ext cx="324207" cy="32420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59111" y="4568428"/>
            <a:ext cx="5592366" cy="6755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Интеграцию современных </a:t>
            </a:r>
            <a:r>
              <a:rPr lang="en-US" sz="1700" b="1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LLM-моделей</a:t>
            </a:r>
            <a:r>
              <a:rPr lang="en-US" sz="17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в реальные продукты.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724" y="5666720"/>
            <a:ext cx="324207" cy="32420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459111" y="5656064"/>
            <a:ext cx="5592366" cy="6755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Принципы работы </a:t>
            </a:r>
            <a:r>
              <a:rPr lang="en-US" sz="1700" b="1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сессий и защиты данных</a:t>
            </a:r>
            <a:r>
              <a:rPr lang="en-US" sz="17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пользователей.</a:t>
            </a:r>
            <a:endParaRPr lang="en-US" sz="1700" dirty="0"/>
          </a:p>
        </p:txBody>
      </p:sp>
      <p:sp>
        <p:nvSpPr>
          <p:cNvPr id="12" name="Shape 6"/>
          <p:cNvSpPr/>
          <p:nvPr/>
        </p:nvSpPr>
        <p:spPr>
          <a:xfrm>
            <a:off x="7430810" y="1617583"/>
            <a:ext cx="6606302" cy="4945856"/>
          </a:xfrm>
          <a:prstGeom prst="roundRect">
            <a:avLst>
              <a:gd name="adj" fmla="val 656"/>
            </a:avLst>
          </a:prstGeom>
          <a:solidFill>
            <a:srgbClr val="0D0A2C"/>
          </a:solidFill>
        </p:spPr>
      </p:sp>
      <p:sp>
        <p:nvSpPr>
          <p:cNvPr id="13" name="Text 7"/>
          <p:cNvSpPr/>
          <p:nvPr/>
        </p:nvSpPr>
        <p:spPr>
          <a:xfrm>
            <a:off x="7646908" y="1823561"/>
            <a:ext cx="3062526" cy="337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Планы по улучшению</a:t>
            </a:r>
            <a:endParaRPr lang="en-US" sz="2100" dirty="0"/>
          </a:p>
        </p:txBody>
      </p:sp>
      <p:sp>
        <p:nvSpPr>
          <p:cNvPr id="14" name="Text 8"/>
          <p:cNvSpPr/>
          <p:nvPr/>
        </p:nvSpPr>
        <p:spPr>
          <a:xfrm>
            <a:off x="7646908" y="2367320"/>
            <a:ext cx="6174105" cy="29183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SzPct val="100000"/>
              <a:buNone/>
            </a:pPr>
            <a:r>
              <a:rPr lang="en-US" sz="1700" b="1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Telegram-бот:</a:t>
            </a:r>
            <a:r>
              <a:rPr lang="en-US" sz="17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добавление задач голосом или коротким сообщением.</a:t>
            </a:r>
            <a:endParaRPr lang="en-US" sz="1700" dirty="0"/>
          </a:p>
          <a:p>
            <a:pPr marL="0" indent="0" algn="l">
              <a:lnSpc>
                <a:spcPts val="2650"/>
              </a:lnSpc>
              <a:buSzPct val="100000"/>
              <a:buNone/>
            </a:pPr>
            <a:r>
              <a:rPr lang="en-US" sz="1700" b="1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Push-уведомления:</a:t>
            </a:r>
            <a:r>
              <a:rPr lang="en-US" sz="17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напоминания о приближающихся дедлайнах.</a:t>
            </a:r>
            <a:endParaRPr lang="en-US" sz="1700" dirty="0"/>
          </a:p>
          <a:p>
            <a:pPr marL="0" indent="0" algn="l">
              <a:lnSpc>
                <a:spcPts val="2650"/>
              </a:lnSpc>
              <a:buSzPct val="100000"/>
              <a:buNone/>
            </a:pPr>
            <a:r>
              <a:rPr lang="en-US" sz="1700" b="1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Интеграция с календарями:</a:t>
            </a:r>
            <a:r>
              <a:rPr lang="en-US" sz="17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синхронизация с Google Calendar или Яндекс.Календарём.</a:t>
            </a:r>
            <a:endParaRPr lang="en-US" sz="1700" dirty="0"/>
          </a:p>
          <a:p>
            <a:pPr marL="0" indent="0" algn="l">
              <a:lnSpc>
                <a:spcPts val="2650"/>
              </a:lnSpc>
              <a:buSzPct val="100000"/>
              <a:buNone/>
            </a:pPr>
            <a:r>
              <a:rPr lang="en-US" sz="1700" b="1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Командная работа:</a:t>
            </a:r>
            <a:r>
              <a:rPr lang="en-US" sz="17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возможность создавать общие списки задач.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1080849" y="7027069"/>
            <a:ext cx="12792908" cy="337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endParaRPr lang="en-US" sz="1700" dirty="0"/>
          </a:p>
        </p:txBody>
      </p:sp>
      <p:sp>
        <p:nvSpPr>
          <p:cNvPr id="16" name="Shape 10"/>
          <p:cNvSpPr/>
          <p:nvPr/>
        </p:nvSpPr>
        <p:spPr>
          <a:xfrm>
            <a:off x="756642" y="6795254"/>
            <a:ext cx="30480" cy="801410"/>
          </a:xfrm>
          <a:prstGeom prst="rect">
            <a:avLst/>
          </a:prstGeom>
          <a:solidFill>
            <a:srgbClr val="66A8EE"/>
          </a:solid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3845560" y="3730625"/>
            <a:ext cx="693928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4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Спасибо за внимание!</a:t>
            </a:r>
            <a:endParaRPr lang="ru-RU" altLang="en-US" sz="4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84.24062992125994,&quot;left&quot;:40.45314960629921,&quot;top&quot;:68.80314960629921,&quot;width&quot;:1097.0937007874018}"/>
</p:tagLst>
</file>

<file path=ppt/tags/tag2.xml><?xml version="1.0" encoding="utf-8"?>
<p:tagLst xmlns:p="http://schemas.openxmlformats.org/presentationml/2006/main">
  <p:tag name="KSO_WM_DIAGRAM_VIRTUALLY_FRAME" val="{&quot;height&quot;:484.24062992125994,&quot;left&quot;:40.45314960629921,&quot;top&quot;:68.80314960629921,&quot;width&quot;:1097.0937007874018}"/>
</p:tagLst>
</file>

<file path=ppt/tags/tag3.xml><?xml version="1.0" encoding="utf-8"?>
<p:tagLst xmlns:p="http://schemas.openxmlformats.org/presentationml/2006/main">
  <p:tag name="KSO_WM_DIAGRAM_VIRTUALLY_FRAME" val="{&quot;height&quot;:484.24062992125994,&quot;left&quot;:40.45314960629921,&quot;top&quot;:68.80314960629921,&quot;width&quot;:1097.0937007874018}"/>
</p:tagLst>
</file>

<file path=ppt/tags/tag4.xml><?xml version="1.0" encoding="utf-8"?>
<p:tagLst xmlns:p="http://schemas.openxmlformats.org/presentationml/2006/main">
  <p:tag name="KSO_WM_DIAGRAM_VIRTUALLY_FRAME" val="{&quot;height&quot;:484.24062992125994,&quot;left&quot;:40.45314960629921,&quot;top&quot;:68.80314960629921,&quot;width&quot;:1097.0937007874018}"/>
</p:tagLst>
</file>

<file path=ppt/tags/tag5.xml><?xml version="1.0" encoding="utf-8"?>
<p:tagLst xmlns:p="http://schemas.openxmlformats.org/presentationml/2006/main">
  <p:tag name="KSO_WM_DIAGRAM_VIRTUALLY_FRAME" val="{&quot;height&quot;:484.24062992125994,&quot;left&quot;:40.45314960629921,&quot;top&quot;:68.80314960629921,&quot;width&quot;:1097.0937007874018}"/>
</p:tagLst>
</file>

<file path=ppt/tags/tag6.xml><?xml version="1.0" encoding="utf-8"?>
<p:tagLst xmlns:p="http://schemas.openxmlformats.org/presentationml/2006/main">
  <p:tag name="KSO_WM_DIAGRAM_VIRTUALLY_FRAME" val="{&quot;height&quot;:484.24062992125994,&quot;left&quot;:40.45314960629921,&quot;top&quot;:68.80314960629921,&quot;width&quot;:1097.093700787401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3756</Words>
  <Application>WPS Presentation</Application>
  <PresentationFormat>On-screen Show (16:9)</PresentationFormat>
  <Paragraphs>186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3" baseType="lpstr">
      <vt:lpstr>Arial</vt:lpstr>
      <vt:lpstr>SimSun</vt:lpstr>
      <vt:lpstr>Wingdings</vt:lpstr>
      <vt:lpstr>Roboto Slab</vt:lpstr>
      <vt:lpstr>Roboto Slab</vt:lpstr>
      <vt:lpstr>Roboto Slab</vt:lpstr>
      <vt:lpstr>Roboto</vt:lpstr>
      <vt:lpstr>Roboto</vt:lpstr>
      <vt:lpstr>Roboto</vt:lpstr>
      <vt:lpstr>Roboto Bold</vt:lpstr>
      <vt:lpstr>Liberation Mono</vt:lpstr>
      <vt:lpstr>Roboto Bold</vt:lpstr>
      <vt:lpstr>Roboto Bold</vt:lpstr>
      <vt:lpstr>Consolas</vt:lpstr>
      <vt:lpstr>Consolas</vt:lpstr>
      <vt:lpstr>Consolas</vt:lpstr>
      <vt:lpstr>Times New Roman</vt:lpstr>
      <vt:lpstr>Calibri</vt:lpstr>
      <vt:lpstr>Microsoft YaHei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The Levtoon</cp:lastModifiedBy>
  <cp:revision>4</cp:revision>
  <dcterms:created xsi:type="dcterms:W3CDTF">2026-05-03T10:15:00Z</dcterms:created>
  <dcterms:modified xsi:type="dcterms:W3CDTF">2026-05-04T14:30:54Z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A81B9FAD876C467ABAF832D77B63C1C9_13</vt:lpwstr>
  </property>
  <property fmtid="{D5CDD505-2E9C-101B-9397-08002B2CF9AE}" pid="3" name="KSOProductBuildVer">
    <vt:lpwstr>1049-12.2.0.23202</vt:lpwstr>
  </property>
</Properties>
</file>